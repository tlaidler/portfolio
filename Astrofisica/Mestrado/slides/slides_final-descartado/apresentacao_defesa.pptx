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66138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Detecção Automatizada de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Ocultações Estelares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4896DE"/>
                </a:solidFill>
                <a:latin typeface="Calibri"/>
              </a:rPr>
              <a:t>Curvas de luz e Machine Learning — Defesa de Mestrado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6613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Thiago Laidler Vidal Cunha</a:t>
            </a:r>
          </a:p>
          <a:p>
            <a:r>
              <a:rPr sz="1500" b="0" i="0">
                <a:solidFill>
                  <a:srgbClr val="FFFFFF"/>
                </a:solidFill>
                <a:latin typeface="Calibri"/>
              </a:rPr>
              <a:t>Orientador: Dr. Júlio Camargo</a:t>
            </a:r>
          </a:p>
          <a:p>
            <a:r>
              <a:rPr sz="1500" b="0" i="0">
                <a:solidFill>
                  <a:srgbClr val="FFFFFF"/>
                </a:solidFill>
                <a:latin typeface="Calibri"/>
              </a:rPr>
              <a:t>Observatório Nacional — 2026</a:t>
            </a:r>
          </a:p>
        </p:txBody>
      </p:sp>
      <p:pic>
        <p:nvPicPr>
          <p:cNvPr id="6" name="Picture 5" descr="o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71" y="5486400"/>
            <a:ext cx="1451737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Ocultações estelares — o fenômeno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O problema e os dados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Machine Learning — sem caixa-preta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Resultados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Quaoar e conclusões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 i="0">
                <a:solidFill>
                  <a:srgbClr val="4896DE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Ocultações Estelares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794760"/>
            <a:ext cx="7985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BECDE6"/>
                </a:solidFill>
                <a:latin typeface="Calibri"/>
              </a:rPr>
              <a:t>medir o invisível com uma sombra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4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 que é uma ocultação</a:t>
            </a:r>
          </a:p>
        </p:txBody>
      </p:sp>
      <p:pic>
        <p:nvPicPr>
          <p:cNvPr id="5" name="Picture 4" descr="cur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867" y="1005840"/>
            <a:ext cx="8833961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Um corpo pequeno passa na frente de uma estrela: a luz "pisca". (Chariklo e seus anéis — ilustração: L. Maquet)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5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 sombra varre a Terra</a:t>
            </a:r>
          </a:p>
        </p:txBody>
      </p:sp>
      <p:pic>
        <p:nvPicPr>
          <p:cNvPr id="5" name="Picture 4" descr="OccUmbriel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1533"/>
            <a:ext cx="5547207" cy="4586374"/>
          </a:xfrm>
          <a:prstGeom prst="rect">
            <a:avLst/>
          </a:prstGeom>
        </p:spPr>
      </p:pic>
      <p:pic>
        <p:nvPicPr>
          <p:cNvPr id="6" name="Picture 5" descr="OccUmbriel_map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760418"/>
            <a:ext cx="5547207" cy="34286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Cada observador no caminho da sombra vê o desaparecimento em um instante diferente. (Umbriel, 2020)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6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Da câmera à curva de luz</a:t>
            </a:r>
          </a:p>
        </p:txBody>
      </p:sp>
      <p:pic>
        <p:nvPicPr>
          <p:cNvPr id="5" name="Picture 4" descr="OccUmbriel_outputExem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87807"/>
            <a:ext cx="4659654" cy="3573826"/>
          </a:xfrm>
          <a:prstGeom prst="rect">
            <a:avLst/>
          </a:prstGeom>
        </p:spPr>
      </p:pic>
      <p:pic>
        <p:nvPicPr>
          <p:cNvPr id="6" name="Picture 5" descr="OccUmbriel_outputExempl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454" y="2629679"/>
            <a:ext cx="6434760" cy="16900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Frames de vídeo → fotometria → curva de luz. É este o objeto que analisamos.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7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Por que vale a pena: ciência de precisão</a:t>
            </a:r>
          </a:p>
        </p:txBody>
      </p:sp>
      <p:pic>
        <p:nvPicPr>
          <p:cNvPr id="5" name="Picture 4" descr="Cordas atualiz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29779"/>
            <a:ext cx="5547207" cy="3489881"/>
          </a:xfrm>
          <a:prstGeom prst="rect">
            <a:avLst/>
          </a:prstGeom>
        </p:spPr>
      </p:pic>
      <p:pic>
        <p:nvPicPr>
          <p:cNvPr id="6" name="Picture 5" descr="Bardecker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723615"/>
            <a:ext cx="5547207" cy="35022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Cada curva vira uma corda; as cordas desenham o corpo — tamanho e forma com precisão de km.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8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 gargalo é humano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547207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4896DE"/>
                </a:solidFill>
                <a:latin typeface="Calibri"/>
              </a:rPr>
              <a:t>milhares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55472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de curvas acumuladas em arquivos
e novas campanhas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1371600"/>
            <a:ext cx="5547207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D2D54"/>
                </a:solidFill>
                <a:latin typeface="Calibri"/>
              </a:rPr>
              <a:t>1 par de olhos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788920"/>
            <a:ext cx="55472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por curva, na triagem manual</a:t>
            </a:r>
          </a:p>
        </p:txBody>
      </p:sp>
      <p:pic>
        <p:nvPicPr>
          <p:cNvPr id="9" name="Picture 8" descr="cur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847" y="3749040"/>
            <a:ext cx="400800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Previsões pós-Gaia multiplicaram as campanhas; cidadãos-cientistas observam. A triagem visual não escala.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9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 proposta: uma pipeline de triagem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41284"/>
            <a:ext cx="11368735" cy="3466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Banco de dados → normalização → características (features) → 4 classificadores → probabilidade de ocultação.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10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 onde vêm os dados</a:t>
            </a:r>
          </a:p>
        </p:txBody>
      </p:sp>
      <p:pic>
        <p:nvPicPr>
          <p:cNvPr id="5" name="Picture 4" descr="flux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23" y="1005840"/>
            <a:ext cx="3523190" cy="4937760"/>
          </a:xfrm>
          <a:prstGeom prst="rect">
            <a:avLst/>
          </a:prstGeom>
        </p:spPr>
      </p:pic>
      <p:pic>
        <p:nvPicPr>
          <p:cNvPr id="6" name="Picture 5" descr="image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677" y="1186223"/>
            <a:ext cx="6878536" cy="4576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VizieR (B/occ) + Grupo do Rio → banco SQLite único: todas as curvas e metadados em duas tabelas consultáveis.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11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 conjunto de dados rotulado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4896DE"/>
                </a:solidFill>
                <a:latin typeface="Calibri"/>
              </a:rPr>
              <a:t>1693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curvas de luz no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6778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4896DE"/>
                </a:solidFill>
                <a:latin typeface="Calibri"/>
              </a:rPr>
              <a:t>802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6778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positivas (reais, com ocultação)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4916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4896DE"/>
                </a:solidFill>
                <a:latin typeface="Calibri"/>
              </a:rPr>
              <a:t>891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4916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negativas
702 sintéticas · 186 recortes reais · 3 nativas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Negativas reais quase não são catalogadas — simulador físico (Gomes-Ferrante &amp; Braga-Ribas) preenche a lacuna.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12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 curva vira números — exemplo positivo</a:t>
            </a:r>
          </a:p>
        </p:txBody>
      </p:sp>
      <p:pic>
        <p:nvPicPr>
          <p:cNvPr id="5" name="Picture 4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040" y="978408"/>
            <a:ext cx="4371999" cy="2423160"/>
          </a:xfrm>
          <a:prstGeom prst="rect">
            <a:avLst/>
          </a:prstGeom>
        </p:spPr>
      </p:pic>
      <p:pic>
        <p:nvPicPr>
          <p:cNvPr id="6" name="Picture 5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14600"/>
            <a:ext cx="1280160" cy="914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23360" y="3703320"/>
          <a:ext cx="7680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1152144"/>
                <a:gridCol w="1152144"/>
                <a:gridCol w="1152144"/>
                <a:gridCol w="1152144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Curva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Occ_depth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SNR do dip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Savgol_std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Max_Drawdown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82828"/>
                          </a:solidFill>
                          <a:latin typeface="Calibri"/>
                        </a:rPr>
                        <a:t>Umbriel — A. Scheck (positiva)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0,43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7,0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0,142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−0,74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Umbriel — N. Carlson (negativa)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4,4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0,069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−0,59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Curva com ocultação → a linha dela na tabela: queda mais funda, SNR maior, dispersão maior.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13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 curva vira números — exemplo negativo</a:t>
            </a:r>
          </a:p>
        </p:txBody>
      </p:sp>
      <p:pic>
        <p:nvPicPr>
          <p:cNvPr id="5" name="Picture 4" descr="image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978408"/>
            <a:ext cx="4361688" cy="2423160"/>
          </a:xfrm>
          <a:prstGeom prst="rect">
            <a:avLst/>
          </a:prstGeom>
        </p:spPr>
      </p:pic>
      <p:pic>
        <p:nvPicPr>
          <p:cNvPr id="6" name="Picture 5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14600"/>
            <a:ext cx="1280160" cy="914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23360" y="3703320"/>
          <a:ext cx="7680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1152144"/>
                <a:gridCol w="1152144"/>
                <a:gridCol w="1152144"/>
                <a:gridCol w="1152144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Curva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Occ_depth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SNR do dip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Savgol_std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Max_Drawdown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Umbriel — A. Scheck (positiva)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0,43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0,142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−0,74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82828"/>
                          </a:solidFill>
                          <a:latin typeface="Calibri"/>
                        </a:rPr>
                        <a:t>Umbriel — N. Carlson (negativa)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4,4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0,069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−0,59</a:t>
                      </a:r>
                    </a:p>
                  </a:txBody>
                  <a:tcPr>
                    <a:solidFill>
                      <a:srgbClr val="FCE9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A curva sem evento vira números menores nas mesmas colunas — é este contraste que o classificador aprende.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 i="0">
                <a:solidFill>
                  <a:srgbClr val="4896DE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Machine Learning — sem caixa-preta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794760"/>
            <a:ext cx="7985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BECDE6"/>
                </a:solidFill>
                <a:latin typeface="Calibri"/>
              </a:rPr>
              <a:t>quatro modelos, todos interpretáveis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15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Classificação supervisionada</a:t>
            </a:r>
          </a:p>
        </p:txBody>
      </p:sp>
      <p:pic>
        <p:nvPicPr>
          <p:cNvPr id="5" name="Picture 4" descr="sigmo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84416"/>
            <a:ext cx="6991922" cy="359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6282" y="1371600"/>
            <a:ext cx="4148213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Aprender com exemplos rotulados (positiva / negativa)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Saída: probabilidade p de haver ocultação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Decisão: p ≥ limiar τ (padrão 0,5) → "positiva"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16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Árvores de decisão... e florestas</a:t>
            </a:r>
          </a:p>
        </p:txBody>
      </p:sp>
      <p:pic>
        <p:nvPicPr>
          <p:cNvPr id="5" name="Picture 4" descr="imag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95740"/>
            <a:ext cx="5547206" cy="4157959"/>
          </a:xfrm>
          <a:prstGeom prst="rect">
            <a:avLst/>
          </a:prstGeom>
        </p:spPr>
      </p:pic>
      <p:pic>
        <p:nvPicPr>
          <p:cNvPr id="6" name="Picture 5" descr="RF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583993"/>
            <a:ext cx="5547207" cy="37814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Uma árvore faz perguntas simples e erra; centenas de árvores votando erram muito menos.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17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Por que comitês funcionam</a:t>
            </a:r>
          </a:p>
        </p:txBody>
      </p:sp>
      <p:pic>
        <p:nvPicPr>
          <p:cNvPr id="5" name="Picture 4" descr="manua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1388"/>
            <a:ext cx="5864193" cy="4398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58553" y="1371600"/>
            <a:ext cx="527594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Erros independentes se cancelam na votação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4 modelos: Regressão Logística, Random Forest, XGBoost, CatBoost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Árvores dão de graça a importância de cada feature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18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Avaliar sem se enganar</a:t>
            </a:r>
          </a:p>
        </p:txBody>
      </p:sp>
      <p:pic>
        <p:nvPicPr>
          <p:cNvPr id="5" name="Picture 4" descr="k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78613"/>
            <a:ext cx="6991922" cy="42036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6282" y="1371600"/>
            <a:ext cx="4148213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Teste sempre em curvas que o modelo nunca viu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Validação cruzada (5 dobras) confirma estabilidade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Métricas: precisão, sensibilidade, F1, AUC-ROC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19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Das 28 às 11 features</a:t>
            </a:r>
          </a:p>
        </p:txBody>
      </p:sp>
      <p:pic>
        <p:nvPicPr>
          <p:cNvPr id="5" name="Picture 4" descr="imag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09420"/>
            <a:ext cx="5547207" cy="2930599"/>
          </a:xfrm>
          <a:prstGeom prst="rect">
            <a:avLst/>
          </a:prstGeom>
        </p:spPr>
      </p:pic>
      <p:pic>
        <p:nvPicPr>
          <p:cNvPr id="6" name="Picture 5" descr="feat_importance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29235"/>
            <a:ext cx="5547207" cy="3290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Suavização, profundidade, duração, testes estatísticos... análise de redundância: 28 → 11 sem perder desempenho.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 i="0">
                <a:solidFill>
                  <a:srgbClr val="4896DE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794760"/>
            <a:ext cx="7985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BECDE6"/>
                </a:solidFill>
                <a:latin typeface="Calibri"/>
              </a:rPr>
              <a:t>seis experimentos, um padrão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21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Seis experimentos, desempenho estável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911532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153"/>
                <a:gridCol w="3273460"/>
                <a:gridCol w="2400537"/>
                <a:gridCol w="2073191"/>
                <a:gridCol w="2073191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Exp.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Configuração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Teste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Melhor F1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28 features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misto 80/20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0,9937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≥ 0,9997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11 features (enxuta)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misto 80/20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≥ 0,9995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11 features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só curvas reais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0,9821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≥ 0,9950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14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misto 80/20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≥ 0,9996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13 features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misto 80/20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0,9905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≥ 0,9996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12 features (sem K-Means)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misto 80/20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≥ 0,9997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Melhor F1 por experimento: </a:t>
            </a:r>
            <a:r>
              <a:rPr sz="1500" b="1" i="0">
                <a:solidFill>
                  <a:srgbClr val="C41E3A"/>
                </a:solidFill>
                <a:latin typeface="Calibri"/>
              </a:rPr>
              <a:t>0,982–0,994</a:t>
            </a:r>
            <a:r>
              <a:rPr sz="1500" b="0" i="0">
                <a:solidFill>
                  <a:srgbClr val="282828"/>
                </a:solidFill>
                <a:latin typeface="Calibri"/>
              </a:rPr>
              <a:t> — o desempenho não depende de uma escolha feliz.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22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Separação das classes (Experimento 1)</a:t>
            </a:r>
          </a:p>
        </p:txBody>
      </p:sp>
      <p:pic>
        <p:nvPicPr>
          <p:cNvPr id="5" name="Picture 4" descr="exp1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9770"/>
            <a:ext cx="5547207" cy="4129900"/>
          </a:xfrm>
          <a:prstGeom prst="rect">
            <a:avLst/>
          </a:prstGeom>
        </p:spPr>
      </p:pic>
      <p:pic>
        <p:nvPicPr>
          <p:cNvPr id="6" name="Picture 5" descr="exp1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265556"/>
            <a:ext cx="5547207" cy="4418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Curvas ROC coladas no canto ideal; erros contados nos dedos. Os 4 modelos, estatisticamente equivalentes (McNemar).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23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 se o teste tiver só curvas reais?</a:t>
            </a:r>
          </a:p>
        </p:txBody>
      </p:sp>
      <p:pic>
        <p:nvPicPr>
          <p:cNvPr id="5" name="Picture 4" descr="exp3real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9770"/>
            <a:ext cx="5547207" cy="4129900"/>
          </a:xfrm>
          <a:prstGeom prst="rect">
            <a:avLst/>
          </a:prstGeom>
        </p:spPr>
      </p:pic>
      <p:pic>
        <p:nvPicPr>
          <p:cNvPr id="6" name="Picture 5" descr="exp3real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265556"/>
            <a:ext cx="5547207" cy="4418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Teste 100% real: F1 ≈ </a:t>
            </a:r>
            <a:r>
              <a:rPr sz="1500" b="1" i="0">
                <a:solidFill>
                  <a:srgbClr val="C41E3A"/>
                </a:solidFill>
                <a:latin typeface="Calibri"/>
              </a:rPr>
              <a:t>0,98</a:t>
            </a:r>
            <a:r>
              <a:rPr sz="1500" b="0" i="0">
                <a:solidFill>
                  <a:srgbClr val="282828"/>
                </a:solidFill>
                <a:latin typeface="Calibri"/>
              </a:rPr>
              <a:t> (queda de ~1 ponto) — consistente com aprender a física, não o simulador.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24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Importância não é insubstituibilidade</a:t>
            </a:r>
          </a:p>
        </p:txBody>
      </p:sp>
      <p:pic>
        <p:nvPicPr>
          <p:cNvPr id="5" name="Picture 4" descr="histograma_kmeans_por_cla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61310"/>
            <a:ext cx="6540831" cy="4038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5191" y="1371600"/>
            <a:ext cx="459930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K-Means: a feature "mais importante" das árvores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Removida → F1 não cai (features colineares compensam)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Lição: importância alta ≠ informação exclusiva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25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Onde o modelo erra</a:t>
            </a:r>
          </a:p>
        </p:txBody>
      </p:sp>
      <p:pic>
        <p:nvPicPr>
          <p:cNvPr id="5" name="Picture 4" descr="RF_curva_F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57149"/>
            <a:ext cx="5547207" cy="3035142"/>
          </a:xfrm>
          <a:prstGeom prst="rect">
            <a:avLst/>
          </a:prstGeom>
        </p:spPr>
      </p:pic>
      <p:pic>
        <p:nvPicPr>
          <p:cNvPr id="6" name="Picture 5" descr="RF_curva_F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972884"/>
            <a:ext cx="5547207" cy="30036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Falsos negativos são curvas que até olhos humanos discutiriam — ruído alto, quedas rasas.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26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 limiar τ: sensibilidade quase de graça</a:t>
            </a:r>
          </a:p>
        </p:txBody>
      </p:sp>
      <p:pic>
        <p:nvPicPr>
          <p:cNvPr id="5" name="Picture 4" descr="metrics_vs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32" y="1005840"/>
            <a:ext cx="4818289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58553" y="1371600"/>
            <a:ext cx="527594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Perder um evento custa MUITO mais que revisar um alarme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Baixar τ: sensibilidade de </a:t>
            </a:r>
            <a:r>
              <a:rPr sz="1700" b="1" i="0">
                <a:solidFill>
                  <a:srgbClr val="C41E3A"/>
                </a:solidFill>
                <a:latin typeface="Calibri"/>
              </a:rPr>
              <a:t>99,4%</a:t>
            </a:r>
            <a:r>
              <a:rPr sz="1700" b="0" i="0">
                <a:solidFill>
                  <a:srgbClr val="282828"/>
                </a:solidFill>
                <a:latin typeface="Calibri"/>
              </a:rPr>
              <a:t> no teste (+5 alarmes em 179 negativas)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282828"/>
                </a:solidFill>
                <a:latin typeface="Calibri"/>
              </a:rPr>
              <a:t>•  Pós-processamento: sem retreinar nada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 i="0">
                <a:solidFill>
                  <a:srgbClr val="4896DE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Prova de fogo: Quaoar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794760"/>
            <a:ext cx="7985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BECDE6"/>
                </a:solidFill>
                <a:latin typeface="Calibri"/>
              </a:rPr>
              <a:t>curva real, externa ao treino — cedida por Pereira et al. (2023)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28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 curva completa</a:t>
            </a:r>
          </a:p>
        </p:txBody>
      </p:sp>
      <p:pic>
        <p:nvPicPr>
          <p:cNvPr id="5" name="Picture 4" descr="quaoar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8782"/>
            <a:ext cx="11368735" cy="44718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Corpo principal + anéis Q1R e Q2R (o fino). O modelo nunca viu Quaoar: p ≈ </a:t>
            </a:r>
            <a:r>
              <a:rPr sz="1500" b="1" i="0">
                <a:solidFill>
                  <a:srgbClr val="C41E3A"/>
                </a:solidFill>
                <a:latin typeface="Calibri"/>
              </a:rPr>
              <a:t>0,99</a:t>
            </a:r>
            <a:r>
              <a:rPr sz="1500" b="0" i="0">
                <a:solidFill>
                  <a:srgbClr val="282828"/>
                </a:solidFill>
                <a:latin typeface="Calibri"/>
              </a:rPr>
              <a:t> para a curva inteira.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29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Caçando estruturas por recortes</a:t>
            </a:r>
          </a:p>
        </p:txBody>
      </p:sp>
      <p:pic>
        <p:nvPicPr>
          <p:cNvPr id="5" name="Picture 4" descr="Quaoar_XgBoost_full_p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19"/>
            <a:ext cx="11368735" cy="4352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Janela a janela: anéis fortes passam (p = </a:t>
            </a:r>
            <a:r>
              <a:rPr sz="1500" b="1" i="0">
                <a:solidFill>
                  <a:srgbClr val="C41E3A"/>
                </a:solidFill>
                <a:latin typeface="Calibri"/>
              </a:rPr>
              <a:t>0,96–0,999</a:t>
            </a:r>
            <a:r>
              <a:rPr sz="1500" b="0" i="0">
                <a:solidFill>
                  <a:srgbClr val="282828"/>
                </a:solidFill>
                <a:latin typeface="Calibri"/>
              </a:rPr>
              <a:t>)... mas as travessias do anel fino Q2R "reprovam" (p = </a:t>
            </a:r>
            <a:r>
              <a:rPr sz="1500" b="1" i="0">
                <a:solidFill>
                  <a:srgbClr val="C41E3A"/>
                </a:solidFill>
                <a:latin typeface="Calibri"/>
              </a:rPr>
              <a:t>0,04–0,08</a:t>
            </a:r>
            <a:r>
              <a:rPr sz="1500" b="0" i="0">
                <a:solidFill>
                  <a:srgbClr val="282828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30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 sinal fraco ainda é sinal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41E3A"/>
                </a:solidFill>
                <a:latin typeface="Calibri"/>
              </a:rPr>
              <a:t>86×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anel fino real vs. ruído parecido
(0,043 vs 0,0005)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6778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D2D54"/>
                </a:solidFill>
                <a:latin typeface="Calibri"/>
              </a:rPr>
              <a:t>τ = 0,03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6778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recupera as duas travessias
do anel fino Q2R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4916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41E3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4916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falsos alarmes nesta curva</a:t>
            </a:r>
          </a:p>
        </p:txBody>
      </p:sp>
      <p:pic>
        <p:nvPicPr>
          <p:cNvPr id="11" name="Picture 10" descr="quaoar_recorte_tau_aju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452" y="3749040"/>
            <a:ext cx="6386790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O que importa não é a probabilidade absoluta — é a separação entre evento e ruído.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31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Lição estrutural: janelas maiores diluem</a:t>
            </a:r>
          </a:p>
        </p:txBody>
      </p:sp>
      <p:pic>
        <p:nvPicPr>
          <p:cNvPr id="5" name="Picture 4" descr="quaoar_recortes_janelas_expand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44589"/>
            <a:ext cx="11368735" cy="40602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Ampliar a janela REDUZ a probabilidade: features globais diluem quedas curtas → motivação para janela deslizante.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32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Dificuldades e como foram enfrentadas</a:t>
            </a:r>
          </a:p>
        </p:txBody>
      </p:sp>
      <p:pic>
        <p:nvPicPr>
          <p:cNvPr id="5" name="Picture 4" descr="flux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404" y="1143000"/>
            <a:ext cx="3291902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25880"/>
            <a:ext cx="69858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Dados heterogêneos e dispersos → banco SQLite unificado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Só </a:t>
            </a:r>
            <a:r>
              <a:rPr sz="1800" b="1" i="0">
                <a:solidFill>
                  <a:srgbClr val="C41E3A"/>
                </a:solidFill>
                <a:latin typeface="Calibri"/>
              </a:rPr>
              <a:t>3</a:t>
            </a:r>
            <a:r>
              <a:rPr sz="1800" b="0" i="0">
                <a:solidFill>
                  <a:srgbClr val="282828"/>
                </a:solidFill>
                <a:latin typeface="Calibri"/>
              </a:rPr>
              <a:t> negativas reais nativas → simulador físico + recortes de curvas reais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Redundância de features → análise sistemática: 28 → 11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Eventos curtos e rasos → limiar τ ajustável por campanha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33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41E3A"/>
                </a:solidFill>
                <a:latin typeface="Calibri"/>
              </a:rPr>
              <a:t>0,98–0,99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F1 robusto em 6 experimentos
(4 modelos, teste real incluído)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6778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41E3A"/>
                </a:solidFill>
                <a:latin typeface="Calibri"/>
              </a:rPr>
              <a:t>99,4%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6778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sensibilidade com τ ajustado
sem retreinamento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4916" y="1371600"/>
            <a:ext cx="369813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41E3A"/>
                </a:solidFill>
                <a:latin typeface="Calibri"/>
              </a:rPr>
              <a:t>86×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4916" y="2788920"/>
            <a:ext cx="36981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separação anel real vs. ruído
em dado externo (Quaoar)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Uma ferramenta reproduzível de triagem e priorização — pronta para revisitar arquivos de curvas.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34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Trabalhos futuros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215" y="3095832"/>
            <a:ext cx="3834280" cy="11692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25880"/>
            <a:ext cx="69858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Janela deslizante + features locais (detectar anéis finos direto)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Ampliar negativas reais nativas (colaborações e campanhas)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Redes neurais (CNN / ODNet) sobre a série bruta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282828"/>
                </a:solidFill>
                <a:latin typeface="Calibri"/>
              </a:rPr>
              <a:t>•  Triagem em tempo quase-real nas campanhas do Grupo do Rio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BECDE6"/>
                </a:solidFill>
                <a:latin typeface="Calibri"/>
              </a:rPr>
              <a:t>Dr. Júlio Camargo (orientação) · Grupo do Rio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BECDE6"/>
                </a:solidFill>
                <a:latin typeface="Calibri"/>
              </a:rPr>
              <a:t>W. Gomes-Ferrante &amp; F. Braga-Ribas (simulador) · C. L. Pereira (dados de Quaoar)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BECDE6"/>
                </a:solidFill>
                <a:latin typeface="Calibri"/>
              </a:rPr>
              <a:t>Banca examinadora · família e amigos</a:t>
            </a:r>
          </a:p>
        </p:txBody>
      </p:sp>
      <p:pic>
        <p:nvPicPr>
          <p:cNvPr id="5" name="Picture 4" descr="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5197729"/>
            <a:ext cx="1554480" cy="112598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 i="0">
                <a:solidFill>
                  <a:srgbClr val="4896DE"/>
                </a:solidFill>
                <a:latin typeface="Calibri"/>
              </a:rP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Material de apoio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3794760"/>
            <a:ext cx="7985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BECDE6"/>
                </a:solidFill>
                <a:latin typeface="Calibri"/>
              </a:rPr>
              <a:t>slides extras para perguntas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37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Análise complementar: e sem ML, dava?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91153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153"/>
                <a:gridCol w="3273460"/>
                <a:gridCol w="2400537"/>
                <a:gridCol w="2073191"/>
                <a:gridCol w="2073191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Classificador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Teste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1D2D5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Limiar em 1 feature (Occ_depth)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misto 80/20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0,905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0,972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Limiar em 1 feature (Occ_depth)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só reais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ML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XGBoost (11 features)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misto 80/20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0,9906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0,9995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XGBoost (11 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828"/>
                          </a:solidFill>
                          <a:latin typeface="Calibri"/>
                        </a:rPr>
                        <a:t>só reais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41E3A"/>
                          </a:solidFill>
                          <a:latin typeface="Calibri"/>
                        </a:rPr>
                        <a:t>0,9968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Uma régua já vai longe (a física é forte) — o ML corta o erro restante em </a:t>
            </a:r>
            <a:r>
              <a:rPr sz="1500" b="1" i="0">
                <a:solidFill>
                  <a:srgbClr val="C41E3A"/>
                </a:solidFill>
                <a:latin typeface="Calibri"/>
              </a:rPr>
              <a:t>~10×</a:t>
            </a:r>
            <a:r>
              <a:rPr sz="1500" b="0" i="0">
                <a:solidFill>
                  <a:srgbClr val="282828"/>
                </a:solidFill>
                <a:latin typeface="Calibri"/>
              </a:rPr>
              <a:t>. [análise complementar, pós-dissertação]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38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Teste cego: Umbriel (seminário, 2025)</a:t>
            </a:r>
          </a:p>
        </p:txBody>
      </p:sp>
      <p:pic>
        <p:nvPicPr>
          <p:cNvPr id="5" name="Picture 4" descr="image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63" y="1005840"/>
            <a:ext cx="8887968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A única divergência do teste cego (18 curvas: 15 pos / 3 neg) foi esta curva, de rótulo discutível — era mesmo negativa?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39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Recortes de Quaoar em detalhe</a:t>
            </a:r>
          </a:p>
        </p:txBody>
      </p:sp>
      <p:pic>
        <p:nvPicPr>
          <p:cNvPr id="5" name="Picture 4" descr="Quaoar_XgBoost_2st3st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12826"/>
            <a:ext cx="5547207" cy="2123787"/>
          </a:xfrm>
          <a:prstGeom prst="rect">
            <a:avLst/>
          </a:prstGeom>
        </p:spPr>
      </p:pic>
      <p:pic>
        <p:nvPicPr>
          <p:cNvPr id="6" name="Picture 5" descr="Quaoar_XgBoost_5st_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412826"/>
            <a:ext cx="5547207" cy="21237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Anel fino real (esq.) vs. anel denso (dir.) — probabilidades do XGBoost janela a janela.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Calibri"/>
              </a:rPr>
              <a:t>40  ·  Defesa de Mestrado —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Física do perfil: modelo de curva</a:t>
            </a:r>
          </a:p>
        </p:txBody>
      </p:sp>
      <p:pic>
        <p:nvPicPr>
          <p:cNvPr id="5" name="Picture 4" descr="ModelosS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011" y="1005840"/>
            <a:ext cx="7847673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82828"/>
                </a:solidFill>
                <a:latin typeface="Calibri"/>
              </a:rPr>
              <a:t>Difração de Fresnel + diâmetro estelar + tempo de integração — o modelo físico por trás da forma da queda (SORA).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