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8229600" cx="14630400"/>
  <p:notesSz cx="8229600" cy="14630400"/>
  <p:embeddedFontLst>
    <p:embeddedFont>
      <p:font typeface="Inter Light"/>
      <p:regular r:id="rId30"/>
      <p:bold r:id="rId31"/>
      <p:italic r:id="rId32"/>
      <p:boldItalic r:id="rId33"/>
    </p:embeddedFont>
    <p:embeddedFont>
      <p:font typeface="Arimo SemiBold"/>
      <p:regular r:id="rId34"/>
      <p:bold r:id="rId35"/>
      <p:italic r:id="rId36"/>
      <p:boldItalic r:id="rId37"/>
    </p:embeddedFont>
    <p:embeddedFont>
      <p:font typeface="Arimo"/>
      <p:regular r:id="rId38"/>
      <p:bold r:id="rId39"/>
      <p:italic r:id="rId40"/>
      <p:boldItalic r:id="rId41"/>
    </p:embeddedFont>
    <p:embeddedFont>
      <p:font typeface="Inter"/>
      <p:bold r:id="rId42"/>
      <p:boldItalic r:id="rId43"/>
    </p:embeddedFont>
    <p:embeddedFont>
      <p:font typeface="Arimo Medium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8" roundtripDataSignature="AMtx7mjpVgtRwWnwZ7X41icOaIG7Dtno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mo-italic.fntdata"/><Relationship Id="rId20" Type="http://schemas.openxmlformats.org/officeDocument/2006/relationships/slide" Target="slides/slide16.xml"/><Relationship Id="rId42" Type="http://schemas.openxmlformats.org/officeDocument/2006/relationships/font" Target="fonts/Inter-bold.fntdata"/><Relationship Id="rId41" Type="http://schemas.openxmlformats.org/officeDocument/2006/relationships/font" Target="fonts/Arimo-boldItalic.fntdata"/><Relationship Id="rId22" Type="http://schemas.openxmlformats.org/officeDocument/2006/relationships/slide" Target="slides/slide18.xml"/><Relationship Id="rId44" Type="http://schemas.openxmlformats.org/officeDocument/2006/relationships/font" Target="fonts/ArimoMedium-regular.fntdata"/><Relationship Id="rId21" Type="http://schemas.openxmlformats.org/officeDocument/2006/relationships/slide" Target="slides/slide17.xml"/><Relationship Id="rId43" Type="http://schemas.openxmlformats.org/officeDocument/2006/relationships/font" Target="fonts/Inter-boldItalic.fntdata"/><Relationship Id="rId24" Type="http://schemas.openxmlformats.org/officeDocument/2006/relationships/slide" Target="slides/slide20.xml"/><Relationship Id="rId46" Type="http://schemas.openxmlformats.org/officeDocument/2006/relationships/font" Target="fonts/ArimoMedium-italic.fntdata"/><Relationship Id="rId23" Type="http://schemas.openxmlformats.org/officeDocument/2006/relationships/slide" Target="slides/slide19.xml"/><Relationship Id="rId45" Type="http://schemas.openxmlformats.org/officeDocument/2006/relationships/font" Target="fonts/Arimo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customschemas.google.com/relationships/presentationmetadata" Target="metadata"/><Relationship Id="rId25" Type="http://schemas.openxmlformats.org/officeDocument/2006/relationships/slide" Target="slides/slide21.xml"/><Relationship Id="rId47" Type="http://schemas.openxmlformats.org/officeDocument/2006/relationships/font" Target="fonts/ArimoMedium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nterLight-bold.fntdata"/><Relationship Id="rId30" Type="http://schemas.openxmlformats.org/officeDocument/2006/relationships/font" Target="fonts/InterLight-regular.fntdata"/><Relationship Id="rId11" Type="http://schemas.openxmlformats.org/officeDocument/2006/relationships/slide" Target="slides/slide7.xml"/><Relationship Id="rId33" Type="http://schemas.openxmlformats.org/officeDocument/2006/relationships/font" Target="fonts/InterLight-boldItalic.fntdata"/><Relationship Id="rId10" Type="http://schemas.openxmlformats.org/officeDocument/2006/relationships/slide" Target="slides/slide6.xml"/><Relationship Id="rId32" Type="http://schemas.openxmlformats.org/officeDocument/2006/relationships/font" Target="fonts/InterLight-italic.fntdata"/><Relationship Id="rId13" Type="http://schemas.openxmlformats.org/officeDocument/2006/relationships/slide" Target="slides/slide9.xml"/><Relationship Id="rId35" Type="http://schemas.openxmlformats.org/officeDocument/2006/relationships/font" Target="fonts/ArimoSemiBold-bold.fntdata"/><Relationship Id="rId12" Type="http://schemas.openxmlformats.org/officeDocument/2006/relationships/slide" Target="slides/slide8.xml"/><Relationship Id="rId34" Type="http://schemas.openxmlformats.org/officeDocument/2006/relationships/font" Target="fonts/ArimoSemiBold-regular.fntdata"/><Relationship Id="rId15" Type="http://schemas.openxmlformats.org/officeDocument/2006/relationships/slide" Target="slides/slide11.xml"/><Relationship Id="rId37" Type="http://schemas.openxmlformats.org/officeDocument/2006/relationships/font" Target="fonts/ArimoSemiBold-boldItalic.fntdata"/><Relationship Id="rId14" Type="http://schemas.openxmlformats.org/officeDocument/2006/relationships/slide" Target="slides/slide10.xml"/><Relationship Id="rId36" Type="http://schemas.openxmlformats.org/officeDocument/2006/relationships/font" Target="fonts/ArimoSemiBold-italic.fntdata"/><Relationship Id="rId17" Type="http://schemas.openxmlformats.org/officeDocument/2006/relationships/slide" Target="slides/slide13.xml"/><Relationship Id="rId39" Type="http://schemas.openxmlformats.org/officeDocument/2006/relationships/font" Target="fonts/Arimo-bold.fntdata"/><Relationship Id="rId16" Type="http://schemas.openxmlformats.org/officeDocument/2006/relationships/slide" Target="slides/slide12.xml"/><Relationship Id="rId38" Type="http://schemas.openxmlformats.org/officeDocument/2006/relationships/font" Target="fonts/Arimo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9b6903434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79b6903434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79b6903434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9b6903434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79b6903434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79b6903434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9b6903434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79b6903434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79b6903434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c6dad3b4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7c6dad3b4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7c6dad3b4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c6dad3b4e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7c6dad3b4e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7c6dad3b4e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9b6903434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79b6903434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79b6903434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9b6903434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79b6903434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79b6903434_0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9b6903434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79b6903434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79b6903434_0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7c9e7b2cd1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7c9e7b2cd1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7c9e7b2cd1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7c9e7b2cd1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7c9e7b2cd1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7c9e7b2cd1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7c9e7b2cd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7c9e7b2cd1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7c9e7b2cd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7cdd19e20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7cdd19e20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7cdd19e20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c9e7b2cd1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g37c9e7b2cd1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7c9e7b2cd1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7c9e7b2cd1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7c9e7b2cd1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7c9e7b2cd1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79b6903434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79b6903434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79b6903434_0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TLaidler/Portfolio/tree/main/Astrofisica/Mestrado" TargetMode="External"/><Relationship Id="rId4" Type="http://schemas.openxmlformats.org/officeDocument/2006/relationships/image" Target="../media/image39.png"/><Relationship Id="rId5" Type="http://schemas.openxmlformats.org/officeDocument/2006/relationships/image" Target="../media/image14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png"/><Relationship Id="rId4" Type="http://schemas.openxmlformats.org/officeDocument/2006/relationships/image" Target="../media/image15.png"/><Relationship Id="rId5" Type="http://schemas.openxmlformats.org/officeDocument/2006/relationships/image" Target="../media/image3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7.jp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49.jp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10" Type="http://schemas.openxmlformats.org/officeDocument/2006/relationships/image" Target="../media/image9.png"/><Relationship Id="rId9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18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image" Target="../media/image9.png"/><Relationship Id="rId5" Type="http://schemas.openxmlformats.org/officeDocument/2006/relationships/image" Target="../media/image47.png"/><Relationship Id="rId6" Type="http://schemas.openxmlformats.org/officeDocument/2006/relationships/image" Target="../media/image28.png"/><Relationship Id="rId7" Type="http://schemas.openxmlformats.org/officeDocument/2006/relationships/image" Target="../media/image21.png"/><Relationship Id="rId8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34.png"/><Relationship Id="rId7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Relationship Id="rId5" Type="http://schemas.openxmlformats.org/officeDocument/2006/relationships/image" Target="../media/image20.png"/><Relationship Id="rId6" Type="http://schemas.openxmlformats.org/officeDocument/2006/relationships/image" Target="../media/image48.png"/><Relationship Id="rId7" Type="http://schemas.openxmlformats.org/officeDocument/2006/relationships/image" Target="../media/image32.png"/><Relationship Id="rId8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40.png"/><Relationship Id="rId10" Type="http://schemas.openxmlformats.org/officeDocument/2006/relationships/image" Target="../media/image9.png"/><Relationship Id="rId9" Type="http://schemas.openxmlformats.org/officeDocument/2006/relationships/image" Target="../media/image20.png"/><Relationship Id="rId5" Type="http://schemas.openxmlformats.org/officeDocument/2006/relationships/image" Target="../media/image46.png"/><Relationship Id="rId6" Type="http://schemas.openxmlformats.org/officeDocument/2006/relationships/image" Target="../media/image37.png"/><Relationship Id="rId7" Type="http://schemas.openxmlformats.org/officeDocument/2006/relationships/image" Target="../media/image36.png"/><Relationship Id="rId8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.png"/><Relationship Id="rId4" Type="http://schemas.openxmlformats.org/officeDocument/2006/relationships/image" Target="../media/image20.png"/><Relationship Id="rId5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5.png"/><Relationship Id="rId4" Type="http://schemas.openxmlformats.org/officeDocument/2006/relationships/image" Target="../media/image5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1.png"/><Relationship Id="rId4" Type="http://schemas.openxmlformats.org/officeDocument/2006/relationships/image" Target="../media/image4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2.png"/><Relationship Id="rId4" Type="http://schemas.openxmlformats.org/officeDocument/2006/relationships/image" Target="../media/image20.png"/><Relationship Id="rId5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/>
          <p:nvPr/>
        </p:nvSpPr>
        <p:spPr>
          <a:xfrm>
            <a:off x="274426" y="717651"/>
            <a:ext cx="8589000" cy="3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4450"/>
              <a:buFont typeface="Inter"/>
              <a:buNone/>
            </a:pPr>
            <a:r>
              <a:rPr b="1" lang="en-US" sz="3550">
                <a:solidFill>
                  <a:srgbClr val="5E98F1"/>
                </a:solidFill>
                <a:latin typeface="Inter"/>
                <a:ea typeface="Inter"/>
                <a:cs typeface="Inter"/>
                <a:sym typeface="Inter"/>
              </a:rPr>
              <a:t>Projeto de Mestrado</a:t>
            </a:r>
            <a:r>
              <a:rPr b="1" i="0" lang="en-US" sz="3550" u="none" cap="none" strike="noStrike">
                <a:solidFill>
                  <a:srgbClr val="5E98F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1" i="0" lang="en-US" sz="3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i="0" sz="35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4450"/>
              <a:buFont typeface="Inter"/>
              <a:buNone/>
            </a:pPr>
            <a:r>
              <a:rPr b="1" lang="en-US" sz="3550">
                <a:latin typeface="Inter"/>
                <a:ea typeface="Inter"/>
                <a:cs typeface="Inter"/>
                <a:sym typeface="Inter"/>
              </a:rPr>
              <a:t>Pipeline para Detecção Automatizada de Ocultações Estelares em Curvas de Luz com Técnicas de Machine Learning</a:t>
            </a:r>
            <a:endParaRPr b="0" i="0" sz="3550" u="none" cap="none" strike="noStrike"/>
          </a:p>
        </p:txBody>
      </p:sp>
      <p:sp>
        <p:nvSpPr>
          <p:cNvPr id="58" name="Google Shape;58;p1"/>
          <p:cNvSpPr/>
          <p:nvPr/>
        </p:nvSpPr>
        <p:spPr>
          <a:xfrm>
            <a:off x="496840" y="4497297"/>
            <a:ext cx="7556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Uma nova abordagem para detectar e analisar ocultações estelares em larga escala usando o poder da inteligência artificial.</a:t>
            </a:r>
            <a:endParaRPr b="0" i="0" sz="1750" u="none" cap="none" strike="noStrike"/>
          </a:p>
        </p:txBody>
      </p:sp>
      <p:pic>
        <p:nvPicPr>
          <p:cNvPr id="59" name="Google Shape;59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25" y="7003375"/>
            <a:ext cx="2260325" cy="10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 txBox="1"/>
          <p:nvPr/>
        </p:nvSpPr>
        <p:spPr>
          <a:xfrm>
            <a:off x="496850" y="5528825"/>
            <a:ext cx="50268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66666"/>
                </a:solidFill>
              </a:rPr>
              <a:t>Aluno: </a:t>
            </a:r>
            <a:r>
              <a:rPr lang="en-US" sz="1800">
                <a:solidFill>
                  <a:srgbClr val="666666"/>
                </a:solidFill>
              </a:rPr>
              <a:t>Thiago Laidler Vidal Cunha</a:t>
            </a:r>
            <a:endParaRPr sz="18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66666"/>
                </a:solidFill>
              </a:rPr>
              <a:t>Orientador:</a:t>
            </a:r>
            <a:r>
              <a:rPr lang="en-US" sz="1800">
                <a:solidFill>
                  <a:srgbClr val="666666"/>
                </a:solidFill>
              </a:rPr>
              <a:t> J</a:t>
            </a:r>
            <a:r>
              <a:rPr lang="en-US" sz="1800">
                <a:solidFill>
                  <a:srgbClr val="666666"/>
                </a:solidFill>
              </a:rPr>
              <a:t>ulio Ignacio Bueno de Camargo</a:t>
            </a:r>
            <a:endParaRPr sz="18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/>
          <p:nvPr/>
        </p:nvSpPr>
        <p:spPr>
          <a:xfrm>
            <a:off x="721638" y="566976"/>
            <a:ext cx="9722406" cy="644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Inter"/>
              <a:buNone/>
            </a:pPr>
            <a:r>
              <a:rPr b="1" lang="en-US" sz="4050">
                <a:latin typeface="Inter"/>
                <a:ea typeface="Inter"/>
                <a:cs typeface="Inter"/>
                <a:sym typeface="Inter"/>
              </a:rPr>
              <a:t>Informações Curriculares</a:t>
            </a:r>
            <a:endParaRPr b="1" sz="405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Inter"/>
              <a:buNone/>
            </a:pPr>
            <a:r>
              <a:t/>
            </a:r>
            <a:endParaRPr b="1" sz="40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971808" y="1631025"/>
            <a:ext cx="10818000" cy="16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Sem Bolsa.</a:t>
            </a:r>
            <a:endParaRPr sz="180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Char char="●"/>
            </a:pPr>
            <a:r>
              <a:rPr b="0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provado no exame de proficiência em inglês oferecido pelo Observatório Nacional em 2024.</a:t>
            </a:r>
            <a:endParaRPr sz="180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Dissertação iniciada.</a:t>
            </a:r>
            <a:endParaRPr sz="180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Códigos publicados em:</a:t>
            </a:r>
            <a:r>
              <a:rPr lang="en-US" sz="18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 https://github.com/TLaidler/Portfolio/tree/main/Astrofisica/Mestrado</a:t>
            </a:r>
            <a:endParaRPr sz="180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Projeto em fase final.</a:t>
            </a:r>
            <a:endParaRPr sz="180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68" name="Google Shape;6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9800" y="2100927"/>
            <a:ext cx="6128674" cy="6128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6932" y="4137843"/>
            <a:ext cx="8042725" cy="20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4425" y="7003375"/>
            <a:ext cx="2260325" cy="10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9b6903434_0_6"/>
          <p:cNvSpPr/>
          <p:nvPr/>
        </p:nvSpPr>
        <p:spPr>
          <a:xfrm>
            <a:off x="721638" y="566976"/>
            <a:ext cx="97224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Inter"/>
              <a:buNone/>
            </a:pPr>
            <a:r>
              <a:rPr b="1" i="0" lang="en-US" sz="4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Ascensão dos Dados em Astronomia</a:t>
            </a:r>
            <a:endParaRPr b="0" i="0" sz="4050" u="none" cap="none" strike="noStrike"/>
          </a:p>
        </p:txBody>
      </p:sp>
      <p:sp>
        <p:nvSpPr>
          <p:cNvPr id="77" name="Google Shape;77;g379b6903434_0_6"/>
          <p:cNvSpPr/>
          <p:nvPr/>
        </p:nvSpPr>
        <p:spPr>
          <a:xfrm>
            <a:off x="721650" y="1706055"/>
            <a:ext cx="6342000" cy="42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Char char="●"/>
            </a:pPr>
            <a:r>
              <a:rPr b="0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astronomia moderna enfrenta um desafio crescente: o volume massivo de dados observacionais. </a:t>
            </a:r>
            <a:endParaRPr b="0" i="0" sz="1800" u="none" cap="none" strike="noStrike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Char char="●"/>
            </a:pPr>
            <a:r>
              <a:rPr b="0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Ocultações estelares, eventos onde um corpo celeste obscurece uma estrela, </a:t>
            </a: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vem sendo cruciais para melhor compreensão desses objetos</a:t>
            </a:r>
            <a:r>
              <a:rPr b="0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No entanto, a análise manual de suas curvas de luz é cada vez mais inviável.</a:t>
            </a:r>
            <a:endParaRPr b="0" i="0" sz="1800" u="none" cap="none" strike="noStrike"/>
          </a:p>
        </p:txBody>
      </p:sp>
      <p:sp>
        <p:nvSpPr>
          <p:cNvPr id="78" name="Google Shape;78;g379b6903434_0_6"/>
          <p:cNvSpPr/>
          <p:nvPr/>
        </p:nvSpPr>
        <p:spPr>
          <a:xfrm>
            <a:off x="721638" y="6131007"/>
            <a:ext cx="63420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Char char="●"/>
            </a:pPr>
            <a:r>
              <a:rPr b="0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Este projeto propõe uma pipeline automatizada para a detecção de ocultações estelares, otimizando o tempo dos pesquisadores e possibilitando a análise de dados em escalas anteriormente inviáveis.</a:t>
            </a:r>
            <a:endParaRPr b="0" i="0" sz="1800" u="none" cap="none" strike="noStrike"/>
          </a:p>
        </p:txBody>
      </p:sp>
      <p:pic>
        <p:nvPicPr>
          <p:cNvPr descr="preencoded.png" id="79" name="Google Shape;79;g379b6903434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5500" y="703552"/>
            <a:ext cx="6128674" cy="6128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79b6903434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3825" y="1504230"/>
            <a:ext cx="5839462" cy="2329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g379b6903434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54849" y="5077750"/>
            <a:ext cx="4561600" cy="303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/>
          <p:nvPr/>
        </p:nvSpPr>
        <p:spPr>
          <a:xfrm>
            <a:off x="793790" y="181903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Objetivos do Projeto</a:t>
            </a:r>
            <a:endParaRPr b="0" i="0" sz="4450" u="none" cap="none" strike="noStrike"/>
          </a:p>
        </p:txBody>
      </p:sp>
      <p:sp>
        <p:nvSpPr>
          <p:cNvPr id="88" name="Google Shape;88;p3"/>
          <p:cNvSpPr/>
          <p:nvPr/>
        </p:nvSpPr>
        <p:spPr>
          <a:xfrm>
            <a:off x="793790" y="2981444"/>
            <a:ext cx="6407944" cy="2448044"/>
          </a:xfrm>
          <a:prstGeom prst="roundRect">
            <a:avLst>
              <a:gd fmla="val 3892" name="adj"/>
            </a:avLst>
          </a:prstGeom>
          <a:solidFill>
            <a:srgbClr val="FFFFFF"/>
          </a:solidFill>
          <a:ln cap="flat" cmpd="sng" w="3047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793790" y="2981444"/>
            <a:ext cx="121920" cy="2448044"/>
          </a:xfrm>
          <a:prstGeom prst="roundRect">
            <a:avLst>
              <a:gd fmla="val 78139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1173004" y="3238738"/>
            <a:ext cx="393299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Banco de Dados Estruturado</a:t>
            </a:r>
            <a:endParaRPr b="0" i="0" sz="2200" u="none" cap="none" strike="noStrike"/>
          </a:p>
        </p:txBody>
      </p:sp>
      <p:sp>
        <p:nvSpPr>
          <p:cNvPr id="91" name="Google Shape;91;p3"/>
          <p:cNvSpPr/>
          <p:nvPr/>
        </p:nvSpPr>
        <p:spPr>
          <a:xfrm>
            <a:off x="1173000" y="3729140"/>
            <a:ext cx="5771400" cy="17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Organizar e disponibilizar um banco de curvas de luz para futuras pesquisas em ocultações estelares. Facilitando </a:t>
            </a: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revisitação 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de curvas duvidosas, e o acesso a novas curvas.</a:t>
            </a:r>
            <a:endParaRPr b="0" i="0" sz="1750" u="none" cap="none" strike="noStrike"/>
          </a:p>
        </p:txBody>
      </p:sp>
      <p:sp>
        <p:nvSpPr>
          <p:cNvPr id="92" name="Google Shape;92;p3"/>
          <p:cNvSpPr/>
          <p:nvPr/>
        </p:nvSpPr>
        <p:spPr>
          <a:xfrm>
            <a:off x="7428548" y="2981444"/>
            <a:ext cx="6408063" cy="2448044"/>
          </a:xfrm>
          <a:prstGeom prst="roundRect">
            <a:avLst>
              <a:gd fmla="val 3892" name="adj"/>
            </a:avLst>
          </a:prstGeom>
          <a:solidFill>
            <a:srgbClr val="FFFFFF"/>
          </a:solidFill>
          <a:ln cap="flat" cmpd="sng" w="3047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7428548" y="2981444"/>
            <a:ext cx="121920" cy="2448044"/>
          </a:xfrm>
          <a:prstGeom prst="roundRect">
            <a:avLst>
              <a:gd fmla="val 78139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7807762" y="3238738"/>
            <a:ext cx="577155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Ferramenta de Classificação Automatizada</a:t>
            </a:r>
            <a:endParaRPr b="0" i="0" sz="2200" u="none" cap="none" strike="noStrike"/>
          </a:p>
        </p:txBody>
      </p:sp>
      <p:sp>
        <p:nvSpPr>
          <p:cNvPr id="95" name="Google Shape;95;p3"/>
          <p:cNvSpPr/>
          <p:nvPr/>
        </p:nvSpPr>
        <p:spPr>
          <a:xfrm>
            <a:off x="7807762" y="4083487"/>
            <a:ext cx="577155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Desenvolver um modelo de Machine Learning para identificar rapidamente curvas com ocultações reais, auxiliando astrônomos na triagem.</a:t>
            </a:r>
            <a:endParaRPr b="0" i="0" sz="1750" u="none" cap="none" strike="noStrike"/>
          </a:p>
        </p:txBody>
      </p:sp>
      <p:sp>
        <p:nvSpPr>
          <p:cNvPr id="96" name="Google Shape;96;p3"/>
          <p:cNvSpPr/>
          <p:nvPr/>
        </p:nvSpPr>
        <p:spPr>
          <a:xfrm>
            <a:off x="793790" y="5684639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Este modelo visa acelerar a análise e detectar eventos sutis, superando limitações de ferramentas legadas que geram muitos falsos positivos.</a:t>
            </a:r>
            <a:endParaRPr b="0" i="0" sz="1750" u="none" cap="none" strike="noStrike"/>
          </a:p>
        </p:txBody>
      </p:sp>
      <p:pic>
        <p:nvPicPr>
          <p:cNvPr id="97" name="Google Shape;9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3868" y="7520949"/>
            <a:ext cx="2321457" cy="70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25" y="7003375"/>
            <a:ext cx="2260325" cy="10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793790" y="1903809"/>
            <a:ext cx="965668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Metodologia: Engenharia de Dados</a:t>
            </a:r>
            <a:endParaRPr b="0" i="0" sz="4450" u="none" cap="none" strike="noStrike"/>
          </a:p>
        </p:txBody>
      </p:sp>
      <p:sp>
        <p:nvSpPr>
          <p:cNvPr id="105" name="Google Shape;105;p4"/>
          <p:cNvSpPr/>
          <p:nvPr/>
        </p:nvSpPr>
        <p:spPr>
          <a:xfrm>
            <a:off x="793790" y="306621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primeira fase do projeto focou na engenharia de dados, crucial para a aplicação de Machine Learning.</a:t>
            </a:r>
            <a:endParaRPr b="0" i="0" sz="1750" u="none" cap="none" strike="noStrike"/>
          </a:p>
        </p:txBody>
      </p:sp>
      <p:sp>
        <p:nvSpPr>
          <p:cNvPr id="106" name="Google Shape;106;p4"/>
          <p:cNvSpPr/>
          <p:nvPr/>
        </p:nvSpPr>
        <p:spPr>
          <a:xfrm>
            <a:off x="793790" y="3684270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 Light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  <a:endParaRPr b="0" i="0" sz="175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793790" y="4039314"/>
            <a:ext cx="4196358" cy="3048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793790" y="4213622"/>
            <a:ext cx="309503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Coleta e Padronização</a:t>
            </a:r>
            <a:endParaRPr b="0" i="0" sz="2200" u="none" cap="none" strike="noStrike"/>
          </a:p>
        </p:txBody>
      </p:sp>
      <p:sp>
        <p:nvSpPr>
          <p:cNvPr id="109" name="Google Shape;109;p4"/>
          <p:cNvSpPr/>
          <p:nvPr/>
        </p:nvSpPr>
        <p:spPr>
          <a:xfrm>
            <a:off x="793790" y="4704040"/>
            <a:ext cx="4196358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Curvas de luz de diversas fontes foram compiladas e integradas em um banco de dados relacional SQL.</a:t>
            </a:r>
            <a:endParaRPr b="0" i="0" sz="1750" u="none" cap="none" strike="noStrike"/>
          </a:p>
        </p:txBody>
      </p:sp>
      <p:sp>
        <p:nvSpPr>
          <p:cNvPr id="110" name="Google Shape;110;p4"/>
          <p:cNvSpPr/>
          <p:nvPr/>
        </p:nvSpPr>
        <p:spPr>
          <a:xfrm>
            <a:off x="5216924" y="3684277"/>
            <a:ext cx="719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 Light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  <a:endParaRPr b="0" i="0" sz="1750" u="none" cap="none" strike="noStrike"/>
          </a:p>
        </p:txBody>
      </p:sp>
      <p:sp>
        <p:nvSpPr>
          <p:cNvPr id="111" name="Google Shape;111;p4"/>
          <p:cNvSpPr/>
          <p:nvPr/>
        </p:nvSpPr>
        <p:spPr>
          <a:xfrm>
            <a:off x="5216962" y="4039314"/>
            <a:ext cx="4196358" cy="3048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5216962" y="4213622"/>
            <a:ext cx="4196358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Scripts de Pré-processamento</a:t>
            </a:r>
            <a:endParaRPr b="0" i="0" sz="2200" u="none" cap="none" strike="noStrike"/>
          </a:p>
        </p:txBody>
      </p:sp>
      <p:sp>
        <p:nvSpPr>
          <p:cNvPr id="113" name="Google Shape;113;p4"/>
          <p:cNvSpPr/>
          <p:nvPr/>
        </p:nvSpPr>
        <p:spPr>
          <a:xfrm>
            <a:off x="5216962" y="4789420"/>
            <a:ext cx="41964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Desenvolvimento de scripts de consulta e pré-processamento para gerar datasets treináveis.</a:t>
            </a:r>
            <a:endParaRPr b="0" i="0" sz="1750" u="none" cap="none" strike="noStrike"/>
          </a:p>
        </p:txBody>
      </p:sp>
      <p:sp>
        <p:nvSpPr>
          <p:cNvPr id="114" name="Google Shape;114;p4"/>
          <p:cNvSpPr/>
          <p:nvPr/>
        </p:nvSpPr>
        <p:spPr>
          <a:xfrm>
            <a:off x="9640110" y="3684276"/>
            <a:ext cx="719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 Light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  <a:endParaRPr b="0" i="0" sz="1750" u="none" cap="none" strike="noStrike"/>
          </a:p>
        </p:txBody>
      </p:sp>
      <p:sp>
        <p:nvSpPr>
          <p:cNvPr id="115" name="Google Shape;115;p4"/>
          <p:cNvSpPr/>
          <p:nvPr/>
        </p:nvSpPr>
        <p:spPr>
          <a:xfrm>
            <a:off x="9640133" y="4039314"/>
            <a:ext cx="4196358" cy="3048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9640133" y="4213622"/>
            <a:ext cx="395918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Enriquecimento de Atributos</a:t>
            </a:r>
            <a:endParaRPr b="0" i="0" sz="2200" u="none" cap="none" strike="noStrike"/>
          </a:p>
        </p:txBody>
      </p:sp>
      <p:sp>
        <p:nvSpPr>
          <p:cNvPr id="117" name="Google Shape;117;p4"/>
          <p:cNvSpPr/>
          <p:nvPr/>
        </p:nvSpPr>
        <p:spPr>
          <a:xfrm>
            <a:off x="9640133" y="4704040"/>
            <a:ext cx="4196358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Extração de estatísticas (média, desvio padrão, fluxo mínimo/máximo) para cada curva, auxiliando no treinamento de modelos supervisionados.</a:t>
            </a:r>
            <a:endParaRPr b="0" i="0" sz="1750" u="none" cap="none" strike="noStrike"/>
          </a:p>
        </p:txBody>
      </p:sp>
      <p:pic>
        <p:nvPicPr>
          <p:cNvPr id="118" name="Google Shape;11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3868" y="7520949"/>
            <a:ext cx="2321457" cy="70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25" y="7003375"/>
            <a:ext cx="2260325" cy="10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9b6903434_0_18"/>
          <p:cNvSpPr/>
          <p:nvPr/>
        </p:nvSpPr>
        <p:spPr>
          <a:xfrm>
            <a:off x="668715" y="643387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lang="en-US" sz="4450">
                <a:latin typeface="Inter"/>
                <a:ea typeface="Inter"/>
                <a:cs typeface="Inter"/>
                <a:sym typeface="Inter"/>
              </a:rPr>
              <a:t>Fluxo de dados</a:t>
            </a:r>
            <a:endParaRPr b="0" i="0" sz="4450" u="none" cap="none" strike="noStrike"/>
          </a:p>
        </p:txBody>
      </p:sp>
      <p:sp>
        <p:nvSpPr>
          <p:cNvPr id="126" name="Google Shape;126;g379b6903434_0_18"/>
          <p:cNvSpPr/>
          <p:nvPr/>
        </p:nvSpPr>
        <p:spPr>
          <a:xfrm>
            <a:off x="333520" y="329972"/>
            <a:ext cx="57600" cy="1312500"/>
          </a:xfrm>
          <a:prstGeom prst="roundRect">
            <a:avLst>
              <a:gd fmla="val 78139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g379b6903434_0_18" title="fluxo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9150" y="466950"/>
            <a:ext cx="5376549" cy="753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79b6903434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83868" y="7520949"/>
            <a:ext cx="2321457" cy="70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79b6903434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425" y="7003375"/>
            <a:ext cx="2260325" cy="10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9b6903434_0_34"/>
          <p:cNvSpPr/>
          <p:nvPr/>
        </p:nvSpPr>
        <p:spPr>
          <a:xfrm>
            <a:off x="668715" y="643387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lang="en-US" sz="4450">
                <a:latin typeface="Inter"/>
                <a:ea typeface="Inter"/>
                <a:cs typeface="Inter"/>
                <a:sym typeface="Inter"/>
              </a:rPr>
              <a:t>Fluxo de dados</a:t>
            </a:r>
            <a:endParaRPr b="0" i="0" sz="4450" u="none" cap="none" strike="noStrike"/>
          </a:p>
        </p:txBody>
      </p:sp>
      <p:sp>
        <p:nvSpPr>
          <p:cNvPr id="136" name="Google Shape;136;g379b6903434_0_34"/>
          <p:cNvSpPr/>
          <p:nvPr/>
        </p:nvSpPr>
        <p:spPr>
          <a:xfrm>
            <a:off x="333520" y="329972"/>
            <a:ext cx="57600" cy="1312500"/>
          </a:xfrm>
          <a:prstGeom prst="roundRect">
            <a:avLst>
              <a:gd fmla="val 78139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g379b6903434_0_34" title="flux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1715" y="152400"/>
            <a:ext cx="5138739" cy="7924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79b6903434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83868" y="7520949"/>
            <a:ext cx="2321457" cy="70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79b6903434_0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425" y="7003375"/>
            <a:ext cx="2260325" cy="10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c6dad3b4e_0_0"/>
          <p:cNvSpPr/>
          <p:nvPr/>
        </p:nvSpPr>
        <p:spPr>
          <a:xfrm>
            <a:off x="668715" y="643387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lang="en-US" sz="4450">
                <a:latin typeface="Inter"/>
                <a:ea typeface="Inter"/>
                <a:cs typeface="Inter"/>
                <a:sym typeface="Inter"/>
              </a:rPr>
              <a:t>Organização BD	</a:t>
            </a:r>
            <a:endParaRPr b="0" i="0" sz="4450" u="none" cap="none" strike="noStrike"/>
          </a:p>
        </p:txBody>
      </p:sp>
      <p:sp>
        <p:nvSpPr>
          <p:cNvPr id="146" name="Google Shape;146;g37c6dad3b4e_0_0"/>
          <p:cNvSpPr/>
          <p:nvPr/>
        </p:nvSpPr>
        <p:spPr>
          <a:xfrm>
            <a:off x="333520" y="329972"/>
            <a:ext cx="57600" cy="1312500"/>
          </a:xfrm>
          <a:prstGeom prst="roundRect">
            <a:avLst>
              <a:gd fmla="val 78139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g37c6dad3b4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3868" y="7520949"/>
            <a:ext cx="2321457" cy="70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7c6dad3b4e_0_0" title="WhatsApp Image 2025-06-01 at 22.15.09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1025" y="1352275"/>
            <a:ext cx="10035150" cy="66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37c6dad3b4e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13725" y="6842025"/>
            <a:ext cx="2260325" cy="10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c6dad3b4e_0_9"/>
          <p:cNvSpPr/>
          <p:nvPr/>
        </p:nvSpPr>
        <p:spPr>
          <a:xfrm>
            <a:off x="668715" y="643387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lang="en-US" sz="4450">
                <a:latin typeface="Inter"/>
                <a:ea typeface="Inter"/>
                <a:cs typeface="Inter"/>
                <a:sym typeface="Inter"/>
              </a:rPr>
              <a:t>Organização BD	</a:t>
            </a:r>
            <a:endParaRPr b="0" i="0" sz="4450" u="none" cap="none" strike="noStrike"/>
          </a:p>
        </p:txBody>
      </p:sp>
      <p:sp>
        <p:nvSpPr>
          <p:cNvPr id="156" name="Google Shape;156;g37c6dad3b4e_0_9"/>
          <p:cNvSpPr/>
          <p:nvPr/>
        </p:nvSpPr>
        <p:spPr>
          <a:xfrm>
            <a:off x="333520" y="329972"/>
            <a:ext cx="57600" cy="1312500"/>
          </a:xfrm>
          <a:prstGeom prst="roundRect">
            <a:avLst>
              <a:gd fmla="val 78139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g37c6dad3b4e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3868" y="7520949"/>
            <a:ext cx="2321457" cy="70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7c6dad3b4e_0_9" title="WhatsApp Image 2025-06-01 at 22.15.30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0600" y="1428275"/>
            <a:ext cx="10624002" cy="661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7c6dad3b4e_0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13725" y="6842025"/>
            <a:ext cx="2260325" cy="10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/>
          <p:nvPr/>
        </p:nvSpPr>
        <p:spPr>
          <a:xfrm>
            <a:off x="721638" y="566976"/>
            <a:ext cx="8576191" cy="644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chemeClr val="dk1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Contexto e problemática</a:t>
            </a:r>
            <a:endParaRPr sz="3600">
              <a:solidFill>
                <a:schemeClr val="dk1"/>
              </a:solidFill>
              <a:latin typeface="Arimo SemiBold"/>
              <a:ea typeface="Arimo SemiBold"/>
              <a:cs typeface="Arimo SemiBold"/>
              <a:sym typeface="Arimo SemiBold"/>
            </a:endParaRPr>
          </a:p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Inter"/>
              <a:buNone/>
            </a:pPr>
            <a:r>
              <a:t/>
            </a:r>
            <a:endParaRPr b="1" sz="40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7574280" y="1330822"/>
            <a:ext cx="63420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Devido à </a:t>
            </a: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dificuldade de obter curvas de luz de </a:t>
            </a: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eventos </a:t>
            </a: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negativos, ou até mesmo positivos de difícil detecção (alto ruído e curto tempo de duração)</a:t>
            </a: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a geração de dados sintéticos e o uso de técnicas de </a:t>
            </a:r>
            <a:r>
              <a:rPr b="1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data augmentation</a:t>
            </a: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são essenciais.</a:t>
            </a:r>
            <a:endParaRPr b="0" i="0" sz="1600" u="none" cap="none" strike="noStrike"/>
          </a:p>
        </p:txBody>
      </p:sp>
      <p:sp>
        <p:nvSpPr>
          <p:cNvPr id="167" name="Google Shape;167;p5"/>
          <p:cNvSpPr/>
          <p:nvPr/>
        </p:nvSpPr>
        <p:spPr>
          <a:xfrm>
            <a:off x="7574280" y="2881313"/>
            <a:ext cx="6342102" cy="989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Curvas Artificiais:</a:t>
            </a: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Construídas com base em parâmetros físicos do corpo ocultador (tamanho, composição), tempo de observação e localização  Gomes-Ferrante and Braga-Ribas (2023).</a:t>
            </a:r>
            <a:endParaRPr b="0" i="0" sz="1600" u="none" cap="none" strike="noStrike"/>
          </a:p>
        </p:txBody>
      </p:sp>
      <p:sp>
        <p:nvSpPr>
          <p:cNvPr id="168" name="Google Shape;168;p5"/>
          <p:cNvSpPr/>
          <p:nvPr/>
        </p:nvSpPr>
        <p:spPr>
          <a:xfrm>
            <a:off x="7574230" y="4425856"/>
            <a:ext cx="63420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Rebalanceamento:</a:t>
            </a: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Utilização de trechos de curvas reais sem eventos para equilibrar a proporção entre eventos positivos e negativos.</a:t>
            </a:r>
            <a:endParaRPr b="0" i="0" sz="1600" u="none" cap="none" strike="noStrike"/>
          </a:p>
        </p:txBody>
      </p:sp>
      <p:pic>
        <p:nvPicPr>
          <p:cNvPr id="169" name="Google Shape;16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3868" y="7520949"/>
            <a:ext cx="2321457" cy="70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/>
          <p:nvPr/>
        </p:nvSpPr>
        <p:spPr>
          <a:xfrm>
            <a:off x="721655" y="1330822"/>
            <a:ext cx="63420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O </a:t>
            </a:r>
            <a:r>
              <a:rPr lang="en-US" sz="1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projeto busca desenvolver um algoritmo de Machine Learning para detectar eventos em curvas de luz. 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Um algoritmo bem treinado pode auxiliar astrônomos em situações adversas, como na identificação de eventos fracos ou na seleção de curvas mais promissoras para análise, destacando informações relevantes sobre o corpo estudado.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t/>
            </a:r>
            <a:endParaRPr sz="1600">
              <a:solidFill>
                <a:srgbClr val="272525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71" name="Google Shape;17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2025" y="5747126"/>
            <a:ext cx="3045325" cy="22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650" y="3395825"/>
            <a:ext cx="5756300" cy="38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13725" y="6842025"/>
            <a:ext cx="2260325" cy="10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9b6903434_0_65"/>
          <p:cNvSpPr/>
          <p:nvPr/>
        </p:nvSpPr>
        <p:spPr>
          <a:xfrm>
            <a:off x="721638" y="566976"/>
            <a:ext cx="85761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Inter"/>
              <a:buNone/>
            </a:pPr>
            <a:r>
              <a:rPr lang="en-US" sz="3600">
                <a:solidFill>
                  <a:schemeClr val="dk1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Formando o dataset:</a:t>
            </a:r>
            <a:endParaRPr sz="3600">
              <a:solidFill>
                <a:schemeClr val="dk1"/>
              </a:solidFill>
              <a:latin typeface="Arimo SemiBold"/>
              <a:ea typeface="Arimo SemiBold"/>
              <a:cs typeface="Arimo SemiBold"/>
              <a:sym typeface="Arimo SemiBold"/>
            </a:endParaRPr>
          </a:p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Inter"/>
              <a:buNone/>
            </a:pPr>
            <a:r>
              <a:t/>
            </a:r>
            <a:endParaRPr sz="3600">
              <a:solidFill>
                <a:schemeClr val="dk1"/>
              </a:solidFill>
              <a:latin typeface="Arimo SemiBold"/>
              <a:ea typeface="Arimo SemiBold"/>
              <a:cs typeface="Arimo SemiBold"/>
              <a:sym typeface="Arimo SemiBold"/>
            </a:endParaRPr>
          </a:p>
        </p:txBody>
      </p:sp>
      <p:pic>
        <p:nvPicPr>
          <p:cNvPr id="180" name="Google Shape;180;g379b6903434_0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3868" y="7520949"/>
            <a:ext cx="2321457" cy="70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79b6903434_0_65"/>
          <p:cNvSpPr/>
          <p:nvPr/>
        </p:nvSpPr>
        <p:spPr>
          <a:xfrm>
            <a:off x="721655" y="1330822"/>
            <a:ext cx="63420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lang="en-US" sz="1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Cada curva de luz será reduzida a um vetor de parâmetros. Esses parâmetros serão as informações necessárias para o modelo </a:t>
            </a:r>
            <a:endParaRPr sz="1600">
              <a:solidFill>
                <a:srgbClr val="272525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2" name="Google Shape;182;g379b6903434_0_65"/>
          <p:cNvSpPr txBox="1"/>
          <p:nvPr/>
        </p:nvSpPr>
        <p:spPr>
          <a:xfrm>
            <a:off x="9313550" y="2393000"/>
            <a:ext cx="534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g379b6903434_0_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6154" y="874300"/>
            <a:ext cx="2994811" cy="122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79b6903434_0_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46154" y="2547550"/>
            <a:ext cx="4560194" cy="159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79b6903434_0_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30800" y="4372638"/>
            <a:ext cx="5756300" cy="111928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79b6903434_0_65"/>
          <p:cNvSpPr txBox="1"/>
          <p:nvPr/>
        </p:nvSpPr>
        <p:spPr>
          <a:xfrm>
            <a:off x="7846150" y="416925"/>
            <a:ext cx="23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Inter"/>
                <a:ea typeface="Inter"/>
                <a:cs typeface="Inter"/>
                <a:sym typeface="Inter"/>
              </a:rPr>
              <a:t>Média do fluxo</a:t>
            </a:r>
            <a:endParaRPr b="1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79b6903434_0_65"/>
          <p:cNvSpPr txBox="1"/>
          <p:nvPr/>
        </p:nvSpPr>
        <p:spPr>
          <a:xfrm>
            <a:off x="7846150" y="2156625"/>
            <a:ext cx="23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Inter"/>
                <a:ea typeface="Inter"/>
                <a:cs typeface="Inter"/>
                <a:sym typeface="Inter"/>
              </a:rPr>
              <a:t>DP</a:t>
            </a:r>
            <a:r>
              <a:rPr b="1" lang="en-US">
                <a:latin typeface="Inter"/>
                <a:ea typeface="Inter"/>
                <a:cs typeface="Inter"/>
                <a:sym typeface="Inter"/>
              </a:rPr>
              <a:t> do fluxo</a:t>
            </a:r>
            <a:endParaRPr b="1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79b6903434_0_65"/>
          <p:cNvSpPr txBox="1"/>
          <p:nvPr/>
        </p:nvSpPr>
        <p:spPr>
          <a:xfrm>
            <a:off x="7580875" y="3906563"/>
            <a:ext cx="23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Inter"/>
                <a:ea typeface="Inter"/>
                <a:cs typeface="Inter"/>
                <a:sym typeface="Inter"/>
              </a:rPr>
              <a:t>Fluxo mínimo/máximo</a:t>
            </a:r>
            <a:endParaRPr/>
          </a:p>
        </p:txBody>
      </p:sp>
      <p:sp>
        <p:nvSpPr>
          <p:cNvPr id="189" name="Google Shape;189;g379b6903434_0_65"/>
          <p:cNvSpPr txBox="1"/>
          <p:nvPr/>
        </p:nvSpPr>
        <p:spPr>
          <a:xfrm>
            <a:off x="7219300" y="5435713"/>
            <a:ext cx="56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Inter"/>
                <a:ea typeface="Inter"/>
                <a:cs typeface="Inter"/>
                <a:sym typeface="Inter"/>
              </a:rPr>
              <a:t>Resultado t-student de cada quartil da curva</a:t>
            </a:r>
            <a:endParaRPr/>
          </a:p>
        </p:txBody>
      </p:sp>
      <p:pic>
        <p:nvPicPr>
          <p:cNvPr id="190" name="Google Shape;190;g379b6903434_0_6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80875" y="5872025"/>
            <a:ext cx="3260101" cy="236209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79b6903434_0_65"/>
          <p:cNvSpPr txBox="1"/>
          <p:nvPr/>
        </p:nvSpPr>
        <p:spPr>
          <a:xfrm>
            <a:off x="913350" y="7281800"/>
            <a:ext cx="23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Inter"/>
                <a:ea typeface="Inter"/>
                <a:cs typeface="Inter"/>
                <a:sym typeface="Inter"/>
              </a:rPr>
              <a:t>Amplitude do fluxo</a:t>
            </a:r>
            <a:endParaRPr b="1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2" name="Google Shape;192;g379b6903434_0_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1638" y="2472922"/>
            <a:ext cx="5608867" cy="3108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79b6903434_0_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4800" y="2439974"/>
            <a:ext cx="6758850" cy="3746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79b6903434_0_6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1812082">
            <a:off x="6423400" y="2441327"/>
            <a:ext cx="1408395" cy="1024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79b6903434_0_6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4875350">
            <a:off x="822575" y="5995577"/>
            <a:ext cx="1408395" cy="1024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79b6903434_0_6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013725" y="6842025"/>
            <a:ext cx="2260325" cy="10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9b6903434_0_127"/>
          <p:cNvSpPr/>
          <p:nvPr/>
        </p:nvSpPr>
        <p:spPr>
          <a:xfrm>
            <a:off x="721638" y="566976"/>
            <a:ext cx="85761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Inter"/>
              <a:buNone/>
            </a:pPr>
            <a:r>
              <a:rPr lang="en-US" sz="3600">
                <a:solidFill>
                  <a:schemeClr val="dk1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Formando o dataset:</a:t>
            </a:r>
            <a:endParaRPr sz="3600">
              <a:solidFill>
                <a:schemeClr val="dk1"/>
              </a:solidFill>
              <a:latin typeface="Arimo SemiBold"/>
              <a:ea typeface="Arimo SemiBold"/>
              <a:cs typeface="Arimo SemiBold"/>
              <a:sym typeface="Arimo SemiBold"/>
            </a:endParaRPr>
          </a:p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Inter"/>
              <a:buNone/>
            </a:pPr>
            <a:r>
              <a:t/>
            </a:r>
            <a:endParaRPr sz="3600">
              <a:solidFill>
                <a:schemeClr val="dk1"/>
              </a:solidFill>
              <a:latin typeface="Arimo SemiBold"/>
              <a:ea typeface="Arimo SemiBold"/>
              <a:cs typeface="Arimo SemiBold"/>
              <a:sym typeface="Arimo SemiBold"/>
            </a:endParaRPr>
          </a:p>
        </p:txBody>
      </p:sp>
      <p:pic>
        <p:nvPicPr>
          <p:cNvPr id="203" name="Google Shape;203;g379b6903434_0_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3868" y="7520949"/>
            <a:ext cx="2321457" cy="70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79b6903434_0_127"/>
          <p:cNvSpPr/>
          <p:nvPr/>
        </p:nvSpPr>
        <p:spPr>
          <a:xfrm>
            <a:off x="721655" y="1330822"/>
            <a:ext cx="63420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lang="en-US" sz="1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Cada curva de luz será reduzida a um vetor de parâmetros. Esses parâmetros serão as informações necessárias para o modelo </a:t>
            </a:r>
            <a:endParaRPr sz="1600">
              <a:solidFill>
                <a:srgbClr val="272525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205" name="Google Shape;205;g379b6903434_0_1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650" y="2439975"/>
            <a:ext cx="5756300" cy="38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79b6903434_0_127"/>
          <p:cNvSpPr txBox="1"/>
          <p:nvPr/>
        </p:nvSpPr>
        <p:spPr>
          <a:xfrm>
            <a:off x="9313550" y="2393000"/>
            <a:ext cx="534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79b6903434_0_127"/>
          <p:cNvSpPr txBox="1"/>
          <p:nvPr/>
        </p:nvSpPr>
        <p:spPr>
          <a:xfrm>
            <a:off x="7719575" y="689075"/>
            <a:ext cx="56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Inter"/>
                <a:ea typeface="Inter"/>
                <a:cs typeface="Inter"/>
                <a:sym typeface="Inter"/>
              </a:rPr>
              <a:t>Estatística de Kolmogorov-Smirnov (comparação de distribuições de cada percentil)</a:t>
            </a:r>
            <a:endParaRPr b="1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8" name="Google Shape;208;g379b6903434_0_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93925" y="1330825"/>
            <a:ext cx="4434116" cy="388612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79b6903434_0_127"/>
          <p:cNvSpPr txBox="1"/>
          <p:nvPr/>
        </p:nvSpPr>
        <p:spPr>
          <a:xfrm>
            <a:off x="7063650" y="5435713"/>
            <a:ext cx="56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Inter"/>
                <a:ea typeface="Inter"/>
                <a:cs typeface="Inter"/>
                <a:sym typeface="Inter"/>
              </a:rPr>
              <a:t>Features pós tratamento</a:t>
            </a:r>
            <a:r>
              <a:rPr b="1" lang="en-US"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Savitzky-Golay filter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0" name="Google Shape;210;g379b6903434_0_1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63650" y="5835926"/>
            <a:ext cx="4434124" cy="2342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79b6903434_0_1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4875350">
            <a:off x="2298400" y="6120627"/>
            <a:ext cx="1408395" cy="102464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79b6903434_0_127"/>
          <p:cNvSpPr txBox="1"/>
          <p:nvPr/>
        </p:nvSpPr>
        <p:spPr>
          <a:xfrm>
            <a:off x="640175" y="7295100"/>
            <a:ext cx="56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Inter"/>
                <a:ea typeface="Inter"/>
                <a:cs typeface="Inter"/>
                <a:sym typeface="Inter"/>
              </a:rPr>
              <a:t>Área sob a curva (integral)/”energia da curva”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3" name="Google Shape;213;g379b6903434_0_1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4800" y="2439974"/>
            <a:ext cx="6758850" cy="3746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79b6903434_0_1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1812082">
            <a:off x="6423400" y="2441327"/>
            <a:ext cx="1408395" cy="1024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79b6903434_0_1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013725" y="6842025"/>
            <a:ext cx="2260325" cy="10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9b6903434_0_145"/>
          <p:cNvSpPr/>
          <p:nvPr/>
        </p:nvSpPr>
        <p:spPr>
          <a:xfrm>
            <a:off x="721638" y="566976"/>
            <a:ext cx="85761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Inter"/>
              <a:buNone/>
            </a:pPr>
            <a:r>
              <a:rPr lang="en-US" sz="3600">
                <a:solidFill>
                  <a:schemeClr val="dk1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Formando o dataset:</a:t>
            </a:r>
            <a:endParaRPr sz="3600">
              <a:solidFill>
                <a:schemeClr val="dk1"/>
              </a:solidFill>
              <a:latin typeface="Arimo SemiBold"/>
              <a:ea typeface="Arimo SemiBold"/>
              <a:cs typeface="Arimo SemiBold"/>
              <a:sym typeface="Arimo SemiBold"/>
            </a:endParaRPr>
          </a:p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Inter"/>
              <a:buNone/>
            </a:pPr>
            <a:r>
              <a:t/>
            </a:r>
            <a:endParaRPr sz="3600">
              <a:solidFill>
                <a:schemeClr val="dk1"/>
              </a:solidFill>
              <a:latin typeface="Arimo SemiBold"/>
              <a:ea typeface="Arimo SemiBold"/>
              <a:cs typeface="Arimo SemiBold"/>
              <a:sym typeface="Arimo SemiBold"/>
            </a:endParaRPr>
          </a:p>
        </p:txBody>
      </p:sp>
      <p:pic>
        <p:nvPicPr>
          <p:cNvPr id="222" name="Google Shape;222;g379b6903434_0_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3868" y="7520949"/>
            <a:ext cx="2321457" cy="70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79b6903434_0_145"/>
          <p:cNvSpPr/>
          <p:nvPr/>
        </p:nvSpPr>
        <p:spPr>
          <a:xfrm>
            <a:off x="721655" y="1330822"/>
            <a:ext cx="63420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lang="en-US" sz="1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Cada curva de luz será reduzida a um vetor de parâmetros. Esses parâmetros serão as informações necessárias para o modelo </a:t>
            </a:r>
            <a:endParaRPr sz="1600">
              <a:solidFill>
                <a:srgbClr val="272525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224" name="Google Shape;224;g379b6903434_0_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650" y="2439975"/>
            <a:ext cx="5756300" cy="38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379b6903434_0_1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71809">
            <a:off x="6101999" y="3870714"/>
            <a:ext cx="1408396" cy="102464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79b6903434_0_145"/>
          <p:cNvSpPr txBox="1"/>
          <p:nvPr/>
        </p:nvSpPr>
        <p:spPr>
          <a:xfrm>
            <a:off x="9313550" y="2393000"/>
            <a:ext cx="534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g379b6903434_0_1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88816" y="2772263"/>
            <a:ext cx="6764009" cy="2685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79b6903434_0_1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013725" y="6842025"/>
            <a:ext cx="2260325" cy="10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"/>
          <p:cNvSpPr/>
          <p:nvPr/>
        </p:nvSpPr>
        <p:spPr>
          <a:xfrm>
            <a:off x="793790" y="1075015"/>
            <a:ext cx="832223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Modelos de Machine Learning</a:t>
            </a:r>
            <a:endParaRPr b="0" i="0" sz="4450" u="none" cap="none" strike="noStrike"/>
          </a:p>
        </p:txBody>
      </p:sp>
      <p:sp>
        <p:nvSpPr>
          <p:cNvPr id="235" name="Google Shape;235;p6"/>
          <p:cNvSpPr/>
          <p:nvPr/>
        </p:nvSpPr>
        <p:spPr>
          <a:xfrm>
            <a:off x="793790" y="2237423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 projeto está na etapa de rebalanceamento do dataset para treinamento e comparação de modelos de Machine Learning.</a:t>
            </a:r>
            <a:endParaRPr b="0" i="0" sz="1750" u="none" cap="none" strike="noStrike"/>
          </a:p>
        </p:txBody>
      </p:sp>
      <p:sp>
        <p:nvSpPr>
          <p:cNvPr id="236" name="Google Shape;236;p6"/>
          <p:cNvSpPr/>
          <p:nvPr/>
        </p:nvSpPr>
        <p:spPr>
          <a:xfrm>
            <a:off x="793790" y="3218378"/>
            <a:ext cx="6407944" cy="2955250"/>
          </a:xfrm>
          <a:prstGeom prst="roundRect">
            <a:avLst>
              <a:gd fmla="val 3224" name="adj"/>
            </a:avLst>
          </a:prstGeom>
          <a:solidFill>
            <a:srgbClr val="DADBF1"/>
          </a:solidFill>
          <a:ln cap="flat" cmpd="sng" w="9525">
            <a:solidFill>
              <a:srgbClr val="5E98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1028224" y="3452813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5E9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5390" y="3601641"/>
            <a:ext cx="306110" cy="382667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6"/>
          <p:cNvSpPr/>
          <p:nvPr/>
        </p:nvSpPr>
        <p:spPr>
          <a:xfrm>
            <a:off x="1028224" y="43600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XGBoost</a:t>
            </a:r>
            <a:endParaRPr b="0" i="0" sz="2200" u="none" cap="none" strike="noStrike"/>
          </a:p>
        </p:txBody>
      </p:sp>
      <p:sp>
        <p:nvSpPr>
          <p:cNvPr id="240" name="Google Shape;240;p6"/>
          <p:cNvSpPr/>
          <p:nvPr/>
        </p:nvSpPr>
        <p:spPr>
          <a:xfrm>
            <a:off x="1028224" y="4850487"/>
            <a:ext cx="593907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Reconhecido pela robustez em classificação e dados tabulares, oferecendo alta performance e interpretabilidade.</a:t>
            </a:r>
            <a:endParaRPr b="0" i="0" sz="1750" u="none" cap="none" strike="noStrike"/>
          </a:p>
        </p:txBody>
      </p:sp>
      <p:sp>
        <p:nvSpPr>
          <p:cNvPr id="241" name="Google Shape;241;p6"/>
          <p:cNvSpPr/>
          <p:nvPr/>
        </p:nvSpPr>
        <p:spPr>
          <a:xfrm>
            <a:off x="7428548" y="3218378"/>
            <a:ext cx="6408063" cy="2955250"/>
          </a:xfrm>
          <a:prstGeom prst="roundRect">
            <a:avLst>
              <a:gd fmla="val 3224" name="adj"/>
            </a:avLst>
          </a:prstGeom>
          <a:solidFill>
            <a:srgbClr val="DADBF1"/>
          </a:solidFill>
          <a:ln cap="flat" cmpd="sng" w="9525">
            <a:solidFill>
              <a:srgbClr val="5CC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7662982" y="3452813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5CC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3" name="Google Shape;24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0148" y="3601641"/>
            <a:ext cx="306110" cy="38266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6"/>
          <p:cNvSpPr/>
          <p:nvPr/>
        </p:nvSpPr>
        <p:spPr>
          <a:xfrm>
            <a:off x="7662982" y="43600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 b="0" i="0" sz="2200" u="none" cap="none" strike="noStrike"/>
          </a:p>
        </p:txBody>
      </p:sp>
      <p:sp>
        <p:nvSpPr>
          <p:cNvPr id="245" name="Google Shape;245;p6"/>
          <p:cNvSpPr/>
          <p:nvPr/>
        </p:nvSpPr>
        <p:spPr>
          <a:xfrm>
            <a:off x="7662982" y="4850487"/>
            <a:ext cx="593919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Amplamente utilizado por sua capacidade de generalização e resiliência a ruídos, ideal para variabilidade significativa.</a:t>
            </a:r>
            <a:endParaRPr b="0" i="0" sz="1750" u="none" cap="none" strike="noStrike"/>
          </a:p>
        </p:txBody>
      </p:sp>
      <p:sp>
        <p:nvSpPr>
          <p:cNvPr id="246" name="Google Shape;246;p6"/>
          <p:cNvSpPr/>
          <p:nvPr/>
        </p:nvSpPr>
        <p:spPr>
          <a:xfrm>
            <a:off x="793797" y="6428775"/>
            <a:ext cx="94452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Futuramente, exploraremos Redes Neurais Convolucionais (CNNs), dado seu sucesso em aplicações similares, como o modelo ODNet da Unistellar Network.</a:t>
            </a:r>
            <a:endParaRPr b="0" i="0" sz="1750" u="none" cap="none" strike="noStrike"/>
          </a:p>
        </p:txBody>
      </p:sp>
      <p:pic>
        <p:nvPicPr>
          <p:cNvPr id="247" name="Google Shape;247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83868" y="7520949"/>
            <a:ext cx="2321457" cy="70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78822">
            <a:off x="11479875" y="113824"/>
            <a:ext cx="2908924" cy="163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387526" y="6736149"/>
            <a:ext cx="2938062" cy="210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185249">
            <a:off x="6371930" y="7251520"/>
            <a:ext cx="3009038" cy="1264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"/>
          <p:cNvSpPr/>
          <p:nvPr/>
        </p:nvSpPr>
        <p:spPr>
          <a:xfrm>
            <a:off x="793790" y="771168"/>
            <a:ext cx="5657255" cy="602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Inter"/>
              <a:buNone/>
            </a:pPr>
            <a:r>
              <a:rPr b="1" i="0" lang="en-US" sz="3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Dificuldades e Soluções</a:t>
            </a:r>
            <a:endParaRPr b="0" i="0" sz="3750" u="none" cap="none" strike="noStrike"/>
          </a:p>
        </p:txBody>
      </p:sp>
      <p:pic>
        <p:nvPicPr>
          <p:cNvPr descr="preencoded.png" id="257" name="Google Shape;2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5379" y="1759148"/>
            <a:ext cx="8559522" cy="5699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8" name="Google Shape;2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5223" y="2078961"/>
            <a:ext cx="277156" cy="27715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7"/>
          <p:cNvSpPr/>
          <p:nvPr/>
        </p:nvSpPr>
        <p:spPr>
          <a:xfrm>
            <a:off x="3617482" y="2588235"/>
            <a:ext cx="1906834" cy="62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Dados restritos</a:t>
            </a:r>
            <a:endParaRPr b="0" i="0" sz="1350" u="none" cap="none" strike="noStrike"/>
          </a:p>
        </p:txBody>
      </p:sp>
      <p:sp>
        <p:nvSpPr>
          <p:cNvPr id="260" name="Google Shape;260;p7"/>
          <p:cNvSpPr/>
          <p:nvPr/>
        </p:nvSpPr>
        <p:spPr>
          <a:xfrm>
            <a:off x="3617307" y="2884814"/>
            <a:ext cx="19068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Dados de curvas resultado de fotometria estão com pesquisadores. Poucos portais liberam publicamente.</a:t>
            </a:r>
            <a:endParaRPr sz="10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t/>
            </a:r>
            <a:endParaRPr sz="10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261" name="Google Shape;26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4388" y="2078961"/>
            <a:ext cx="277156" cy="27715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7"/>
          <p:cNvSpPr/>
          <p:nvPr/>
        </p:nvSpPr>
        <p:spPr>
          <a:xfrm>
            <a:off x="6466647" y="2588235"/>
            <a:ext cx="1906834" cy="62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Astroquery Collection</a:t>
            </a:r>
            <a:endParaRPr b="0" i="0" sz="1350" u="none" cap="none" strike="noStrike"/>
          </a:p>
        </p:txBody>
      </p:sp>
      <p:sp>
        <p:nvSpPr>
          <p:cNvPr id="263" name="Google Shape;263;p7"/>
          <p:cNvSpPr/>
          <p:nvPr/>
        </p:nvSpPr>
        <p:spPr>
          <a:xfrm>
            <a:off x="6466735" y="2884839"/>
            <a:ext cx="19068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Utilização da lib astroquery para buscar dados do Vizier.</a:t>
            </a:r>
            <a:endParaRPr sz="10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t/>
            </a:r>
            <a:endParaRPr sz="10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Criei scripts únicos com foco no banco de dados do projeto.</a:t>
            </a:r>
            <a:endParaRPr sz="10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264" name="Google Shape;2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3552" y="2078961"/>
            <a:ext cx="277157" cy="27715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7"/>
          <p:cNvSpPr/>
          <p:nvPr/>
        </p:nvSpPr>
        <p:spPr>
          <a:xfrm>
            <a:off x="9315984" y="2588235"/>
            <a:ext cx="1906834" cy="62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Fontes limitadas</a:t>
            </a:r>
            <a:endParaRPr b="0" i="0" sz="1350" u="none" cap="none" strike="noStrike"/>
          </a:p>
        </p:txBody>
      </p:sp>
      <p:sp>
        <p:nvSpPr>
          <p:cNvPr id="266" name="Google Shape;266;p7"/>
          <p:cNvSpPr/>
          <p:nvPr/>
        </p:nvSpPr>
        <p:spPr>
          <a:xfrm>
            <a:off x="9315934" y="3025376"/>
            <a:ext cx="19068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Por enquanto apenas Drive do Grupo do Rio de curvas positivas do Vizier.</a:t>
            </a:r>
            <a:endParaRPr b="0" i="0" sz="1050" u="none" cap="none" strike="noStrike"/>
          </a:p>
        </p:txBody>
      </p:sp>
      <p:pic>
        <p:nvPicPr>
          <p:cNvPr descr="preencoded.png" id="267" name="Google Shape;26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5223" y="4894867"/>
            <a:ext cx="277156" cy="27715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7"/>
          <p:cNvSpPr/>
          <p:nvPr/>
        </p:nvSpPr>
        <p:spPr>
          <a:xfrm>
            <a:off x="3617482" y="5404141"/>
            <a:ext cx="1906834" cy="62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Geração de curvas sintéticas</a:t>
            </a:r>
            <a:endParaRPr b="0" i="0" sz="1350" u="none" cap="none" strike="noStrike"/>
          </a:p>
        </p:txBody>
      </p:sp>
      <p:sp>
        <p:nvSpPr>
          <p:cNvPr id="269" name="Google Shape;269;p7"/>
          <p:cNvSpPr/>
          <p:nvPr/>
        </p:nvSpPr>
        <p:spPr>
          <a:xfrm>
            <a:off x="3617350" y="6027744"/>
            <a:ext cx="1906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Ajuda do prof Felipe e Welligton. Utilização do mesmo código-fonte para criação de novas curvas.</a:t>
            </a:r>
            <a:endParaRPr b="0" i="0" sz="1050" u="none" cap="none" strike="noStrike"/>
          </a:p>
        </p:txBody>
      </p:sp>
      <p:pic>
        <p:nvPicPr>
          <p:cNvPr descr="preencoded.png" id="270" name="Google Shape;27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04388" y="4894867"/>
            <a:ext cx="277156" cy="27715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7"/>
          <p:cNvSpPr/>
          <p:nvPr/>
        </p:nvSpPr>
        <p:spPr>
          <a:xfrm>
            <a:off x="6466647" y="5404141"/>
            <a:ext cx="1906834" cy="62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Dados mal distribuídos</a:t>
            </a:r>
            <a:endParaRPr b="0" i="0" sz="1350" u="none" cap="none" strike="noStrike"/>
          </a:p>
        </p:txBody>
      </p:sp>
      <p:sp>
        <p:nvSpPr>
          <p:cNvPr id="272" name="Google Shape;272;p7"/>
          <p:cNvSpPr/>
          <p:nvPr/>
        </p:nvSpPr>
        <p:spPr>
          <a:xfrm>
            <a:off x="6466647" y="6116432"/>
            <a:ext cx="1906834" cy="498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90% das curvas buscadas são positivas. Aumenta ainda mais a importância de curvas sintéticas.</a:t>
            </a:r>
            <a:endParaRPr b="0" i="0" sz="1050" u="none" cap="none" strike="noStrike"/>
          </a:p>
        </p:txBody>
      </p:sp>
      <p:pic>
        <p:nvPicPr>
          <p:cNvPr descr="preencoded.png" id="273" name="Google Shape;273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53552" y="4894867"/>
            <a:ext cx="277157" cy="27715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7"/>
          <p:cNvSpPr/>
          <p:nvPr/>
        </p:nvSpPr>
        <p:spPr>
          <a:xfrm>
            <a:off x="9315984" y="5404141"/>
            <a:ext cx="1906834" cy="62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Data Augmentation</a:t>
            </a:r>
            <a:endParaRPr b="0" i="0" sz="1350" u="none" cap="none" strike="noStrike"/>
          </a:p>
        </p:txBody>
      </p:sp>
      <p:sp>
        <p:nvSpPr>
          <p:cNvPr id="275" name="Google Shape;275;p7"/>
          <p:cNvSpPr/>
          <p:nvPr/>
        </p:nvSpPr>
        <p:spPr>
          <a:xfrm>
            <a:off x="9315800" y="5833939"/>
            <a:ext cx="1906800" cy="13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É </a:t>
            </a: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possível</a:t>
            </a:r>
            <a:r>
              <a:rPr lang="en-US" sz="10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também recortar eventos de curvas positivas para aumentar a quantidade de curvas negativas no dataset.</a:t>
            </a:r>
            <a:endParaRPr b="0" i="0" sz="1050" u="none" cap="none" strike="noStrike"/>
          </a:p>
        </p:txBody>
      </p:sp>
      <p:pic>
        <p:nvPicPr>
          <p:cNvPr id="276" name="Google Shape;276;p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308943" y="7520949"/>
            <a:ext cx="2321457" cy="70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161650" y="7046425"/>
            <a:ext cx="2260325" cy="10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"/>
          <p:cNvSpPr/>
          <p:nvPr/>
        </p:nvSpPr>
        <p:spPr>
          <a:xfrm>
            <a:off x="793790" y="1409700"/>
            <a:ext cx="611112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Métricas de Avaliação</a:t>
            </a:r>
            <a:endParaRPr b="0" i="0" sz="4450" u="none" cap="none" strike="noStrike"/>
          </a:p>
        </p:txBody>
      </p:sp>
      <p:sp>
        <p:nvSpPr>
          <p:cNvPr id="284" name="Google Shape;284;p8"/>
          <p:cNvSpPr/>
          <p:nvPr/>
        </p:nvSpPr>
        <p:spPr>
          <a:xfrm>
            <a:off x="793790" y="257210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Para avaliar o desempenho dos modelos de classificação, serão utilizadas métricas consagradas:</a:t>
            </a:r>
            <a:endParaRPr b="0" i="0" sz="1750" u="none" cap="none" strike="noStrike"/>
          </a:p>
        </p:txBody>
      </p:sp>
      <p:sp>
        <p:nvSpPr>
          <p:cNvPr id="285" name="Google Shape;285;p8"/>
          <p:cNvSpPr/>
          <p:nvPr/>
        </p:nvSpPr>
        <p:spPr>
          <a:xfrm>
            <a:off x="793790" y="3190161"/>
            <a:ext cx="13042821" cy="3629739"/>
          </a:xfrm>
          <a:prstGeom prst="roundRect">
            <a:avLst>
              <a:gd fmla="val 2625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801410" y="3197781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1028343" y="3341489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Acurácia</a:t>
            </a:r>
            <a:endParaRPr b="0" i="0" sz="1750" u="none" cap="none" strike="noStrike"/>
          </a:p>
        </p:txBody>
      </p:sp>
      <p:sp>
        <p:nvSpPr>
          <p:cNvPr id="288" name="Google Shape;288;p8"/>
          <p:cNvSpPr/>
          <p:nvPr/>
        </p:nvSpPr>
        <p:spPr>
          <a:xfrm>
            <a:off x="3637598" y="3341489"/>
            <a:ext cx="996457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Proporção de classificações corretas (TP + TN) sobre o total.</a:t>
            </a:r>
            <a:endParaRPr b="0" i="0" sz="1750" u="none" cap="none" strike="noStrike"/>
          </a:p>
        </p:txBody>
      </p:sp>
      <p:sp>
        <p:nvSpPr>
          <p:cNvPr id="289" name="Google Shape;289;p8"/>
          <p:cNvSpPr/>
          <p:nvPr/>
        </p:nvSpPr>
        <p:spPr>
          <a:xfrm>
            <a:off x="801410" y="3848100"/>
            <a:ext cx="1302758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1028343" y="3991808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Precisão</a:t>
            </a:r>
            <a:endParaRPr b="0" i="0" sz="1750" u="none" cap="none" strike="noStrike"/>
          </a:p>
        </p:txBody>
      </p:sp>
      <p:sp>
        <p:nvSpPr>
          <p:cNvPr id="291" name="Google Shape;291;p8"/>
          <p:cNvSpPr/>
          <p:nvPr/>
        </p:nvSpPr>
        <p:spPr>
          <a:xfrm>
            <a:off x="3637598" y="3991808"/>
            <a:ext cx="996457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Proporção de verdadeiros positivos (TP) entre os preditos como positivos.</a:t>
            </a:r>
            <a:endParaRPr b="0" i="0" sz="1750" u="none" cap="none" strike="noStrike"/>
          </a:p>
        </p:txBody>
      </p:sp>
      <p:sp>
        <p:nvSpPr>
          <p:cNvPr id="292" name="Google Shape;292;p8"/>
          <p:cNvSpPr/>
          <p:nvPr/>
        </p:nvSpPr>
        <p:spPr>
          <a:xfrm>
            <a:off x="801410" y="4498419"/>
            <a:ext cx="13027581" cy="101322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1028343" y="4642128"/>
            <a:ext cx="214800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Recall (Sensibilidade)</a:t>
            </a:r>
            <a:endParaRPr b="0" i="0" sz="1750" u="none" cap="none" strike="noStrike"/>
          </a:p>
        </p:txBody>
      </p:sp>
      <p:sp>
        <p:nvSpPr>
          <p:cNvPr id="294" name="Google Shape;294;p8"/>
          <p:cNvSpPr/>
          <p:nvPr/>
        </p:nvSpPr>
        <p:spPr>
          <a:xfrm>
            <a:off x="3637598" y="4642128"/>
            <a:ext cx="996457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Proporção de verdadeiros positivos (TP) entre todos os positivos reais.</a:t>
            </a:r>
            <a:endParaRPr b="0" i="0" sz="1750" u="none" cap="none" strike="noStrike"/>
          </a:p>
        </p:txBody>
      </p:sp>
      <p:sp>
        <p:nvSpPr>
          <p:cNvPr id="295" name="Google Shape;295;p8"/>
          <p:cNvSpPr/>
          <p:nvPr/>
        </p:nvSpPr>
        <p:spPr>
          <a:xfrm>
            <a:off x="801410" y="5511641"/>
            <a:ext cx="1302758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1028343" y="5655350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F1-score</a:t>
            </a:r>
            <a:endParaRPr b="0" i="0" sz="1750" u="none" cap="none" strike="noStrike"/>
          </a:p>
        </p:txBody>
      </p:sp>
      <p:sp>
        <p:nvSpPr>
          <p:cNvPr id="297" name="Google Shape;297;p8"/>
          <p:cNvSpPr/>
          <p:nvPr/>
        </p:nvSpPr>
        <p:spPr>
          <a:xfrm>
            <a:off x="3637598" y="5655350"/>
            <a:ext cx="996457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Média harmônica entre Precisão e Recall.</a:t>
            </a:r>
            <a:endParaRPr b="0" i="0" sz="1750" u="none" cap="none" strike="noStrike"/>
          </a:p>
        </p:txBody>
      </p:sp>
      <p:sp>
        <p:nvSpPr>
          <p:cNvPr id="298" name="Google Shape;298;p8"/>
          <p:cNvSpPr/>
          <p:nvPr/>
        </p:nvSpPr>
        <p:spPr>
          <a:xfrm>
            <a:off x="801410" y="6161961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1028343" y="6305669"/>
            <a:ext cx="21480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AUC</a:t>
            </a:r>
            <a:endParaRPr b="0" i="0" sz="1750" u="none" cap="none" strike="noStrike"/>
          </a:p>
        </p:txBody>
      </p:sp>
      <p:sp>
        <p:nvSpPr>
          <p:cNvPr id="300" name="Google Shape;300;p8"/>
          <p:cNvSpPr/>
          <p:nvPr/>
        </p:nvSpPr>
        <p:spPr>
          <a:xfrm>
            <a:off x="3637598" y="6305669"/>
            <a:ext cx="996457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Área sob a Curva ROC, indica a capacidade de discriminação do modelo.</a:t>
            </a:r>
            <a:endParaRPr b="0" i="0" sz="1750" u="none" cap="none" strike="noStrike"/>
          </a:p>
        </p:txBody>
      </p:sp>
      <p:pic>
        <p:nvPicPr>
          <p:cNvPr id="301" name="Google Shape;30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3868" y="7520949"/>
            <a:ext cx="2321457" cy="70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13725" y="6842025"/>
            <a:ext cx="2260325" cy="10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7c9e7b2cd1_0_26"/>
          <p:cNvSpPr/>
          <p:nvPr/>
        </p:nvSpPr>
        <p:spPr>
          <a:xfrm>
            <a:off x="643715" y="1059500"/>
            <a:ext cx="6111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lang="en-US" sz="4450">
                <a:latin typeface="Inter"/>
                <a:ea typeface="Inter"/>
                <a:cs typeface="Inter"/>
                <a:sym typeface="Inter"/>
              </a:rPr>
              <a:t>Resultado preliminar</a:t>
            </a:r>
            <a:endParaRPr b="0" i="0" sz="4450" u="none" cap="none" strike="noStrike"/>
          </a:p>
        </p:txBody>
      </p:sp>
      <p:sp>
        <p:nvSpPr>
          <p:cNvPr id="309" name="Google Shape;309;g37c9e7b2cd1_0_26"/>
          <p:cNvSpPr txBox="1"/>
          <p:nvPr/>
        </p:nvSpPr>
        <p:spPr>
          <a:xfrm>
            <a:off x="633675" y="2468050"/>
            <a:ext cx="5352900" cy="54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Para esse primeira teste utilizamos uma amostra pequena (95 curvas) e aplicamos o modelo </a:t>
            </a:r>
            <a:r>
              <a:rPr b="1" lang="en-US" sz="2400">
                <a:latin typeface="Arimo"/>
                <a:ea typeface="Arimo"/>
                <a:cs typeface="Arimo"/>
                <a:sym typeface="Arimo"/>
              </a:rPr>
              <a:t>Random Forest</a:t>
            </a: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.</a:t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mo Medium"/>
              <a:buChar char="●"/>
            </a:pP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Esse modelo é baseado no conceito de Árvore de Decisão.</a:t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</p:txBody>
      </p:sp>
      <p:pic>
        <p:nvPicPr>
          <p:cNvPr id="310" name="Google Shape;310;g37c9e7b2cd1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4154" y="2693175"/>
            <a:ext cx="7386249" cy="553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7c9e7b2cd1_0_34"/>
          <p:cNvSpPr/>
          <p:nvPr/>
        </p:nvSpPr>
        <p:spPr>
          <a:xfrm>
            <a:off x="643715" y="1059500"/>
            <a:ext cx="6111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lang="en-US" sz="4450">
                <a:latin typeface="Inter"/>
                <a:ea typeface="Inter"/>
                <a:cs typeface="Inter"/>
                <a:sym typeface="Inter"/>
              </a:rPr>
              <a:t>Resultado preliminar</a:t>
            </a:r>
            <a:endParaRPr b="0" i="0" sz="4450" u="none" cap="none" strike="noStrike"/>
          </a:p>
        </p:txBody>
      </p:sp>
      <p:sp>
        <p:nvSpPr>
          <p:cNvPr id="317" name="Google Shape;317;g37c9e7b2cd1_0_34"/>
          <p:cNvSpPr txBox="1"/>
          <p:nvPr/>
        </p:nvSpPr>
        <p:spPr>
          <a:xfrm>
            <a:off x="633675" y="2468050"/>
            <a:ext cx="5352900" cy="54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Para esse primeira teste utilizamos uma amostra pequena (95 curvas) e aplicamos o modelo </a:t>
            </a:r>
            <a:r>
              <a:rPr b="1" lang="en-US" sz="2400">
                <a:latin typeface="Arimo"/>
                <a:ea typeface="Arimo"/>
                <a:cs typeface="Arimo"/>
                <a:sym typeface="Arimo"/>
              </a:rPr>
              <a:t>Random Forest</a:t>
            </a: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.</a:t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mo Medium"/>
              <a:buChar char="●"/>
            </a:pP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Esse modelo é baseado no conceito de Árvore de Decisão.</a:t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mo Medium"/>
              <a:buChar char="●"/>
            </a:pP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Sua principal diferença com a simples árvore de decisão é a adição do conceito de Bootstrap, recriando várias árvores com amostragens diversas do data set original</a:t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</p:txBody>
      </p:sp>
      <p:pic>
        <p:nvPicPr>
          <p:cNvPr id="318" name="Google Shape;318;g37c9e7b2cd1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975" y="1920800"/>
            <a:ext cx="8339028" cy="5557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7c9e7b2cd1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08943" y="7520949"/>
            <a:ext cx="2321457" cy="70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g37c9e7b2cd1_0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39513" y="7084075"/>
            <a:ext cx="2260325" cy="10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7c9e7b2cd1_0_1"/>
          <p:cNvSpPr/>
          <p:nvPr/>
        </p:nvSpPr>
        <p:spPr>
          <a:xfrm>
            <a:off x="643715" y="1059500"/>
            <a:ext cx="6111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lang="en-US" sz="4450">
                <a:latin typeface="Inter"/>
                <a:ea typeface="Inter"/>
                <a:cs typeface="Inter"/>
                <a:sym typeface="Inter"/>
              </a:rPr>
              <a:t>Resultado preliminar</a:t>
            </a:r>
            <a:endParaRPr b="0" i="0" sz="4450" u="none" cap="none" strike="noStrike"/>
          </a:p>
        </p:txBody>
      </p:sp>
      <p:pic>
        <p:nvPicPr>
          <p:cNvPr id="327" name="Google Shape;327;g37c9e7b2cd1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7775" y="1934000"/>
            <a:ext cx="6692625" cy="61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7c9e7b2cd1_0_1"/>
          <p:cNvSpPr txBox="1"/>
          <p:nvPr/>
        </p:nvSpPr>
        <p:spPr>
          <a:xfrm>
            <a:off x="643725" y="2117850"/>
            <a:ext cx="5352900" cy="54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Ao lado vemos o resultado do treinamento do modelo </a:t>
            </a:r>
            <a:r>
              <a:rPr b="1" lang="en-US" sz="2400">
                <a:latin typeface="Arimo"/>
                <a:ea typeface="Arimo"/>
                <a:cs typeface="Arimo"/>
                <a:sym typeface="Arimo"/>
              </a:rPr>
              <a:t>Random Forest</a:t>
            </a: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.</a:t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mo Medium"/>
              <a:buChar char="●"/>
            </a:pP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U</a:t>
            </a: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tilizamos curvas negativas provenientes do recorte de curvas positivas. Ao total, ficamos com 60 curvas positivas e 35 curvas negativas.</a:t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mo Medium"/>
              <a:buChar char="●"/>
            </a:pP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Resultado otimista, mas é preciso ter cautela!</a:t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cdd19e203_0_0"/>
          <p:cNvSpPr/>
          <p:nvPr/>
        </p:nvSpPr>
        <p:spPr>
          <a:xfrm>
            <a:off x="643715" y="1059500"/>
            <a:ext cx="6111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lang="en-US" sz="4450">
                <a:latin typeface="Inter"/>
                <a:ea typeface="Inter"/>
                <a:cs typeface="Inter"/>
                <a:sym typeface="Inter"/>
              </a:rPr>
              <a:t>Resultado preliminar</a:t>
            </a:r>
            <a:endParaRPr b="0" i="0" sz="4450" u="none" cap="none" strike="noStrike"/>
          </a:p>
        </p:txBody>
      </p:sp>
      <p:pic>
        <p:nvPicPr>
          <p:cNvPr id="335" name="Google Shape;335;g37cdd19e20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7775" y="1934000"/>
            <a:ext cx="6692625" cy="61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7cdd19e203_0_0"/>
          <p:cNvSpPr txBox="1"/>
          <p:nvPr/>
        </p:nvSpPr>
        <p:spPr>
          <a:xfrm>
            <a:off x="643725" y="2117850"/>
            <a:ext cx="5352900" cy="54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Ao lado vemos o resultado do treinamento do modelo </a:t>
            </a:r>
            <a:r>
              <a:rPr b="1" lang="en-US" sz="2400">
                <a:latin typeface="Arimo"/>
                <a:ea typeface="Arimo"/>
                <a:cs typeface="Arimo"/>
                <a:sym typeface="Arimo"/>
              </a:rPr>
              <a:t>Random Forest</a:t>
            </a: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.</a:t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mo Medium"/>
              <a:buChar char="●"/>
            </a:pP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Utilizamos curvas negativas provenientes do recorte de curvas positivas. Ao total, ficamos com 60 curvas positivas e 35 curvas negativas.</a:t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mo Medium"/>
              <a:buChar char="●"/>
            </a:pP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Resultado otimista, mas é preciso ter cautela!</a:t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7c9e7b2cd1_0_49"/>
          <p:cNvSpPr/>
          <p:nvPr/>
        </p:nvSpPr>
        <p:spPr>
          <a:xfrm>
            <a:off x="643715" y="1059500"/>
            <a:ext cx="6111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lang="en-US" sz="4450">
                <a:latin typeface="Inter"/>
                <a:ea typeface="Inter"/>
                <a:cs typeface="Inter"/>
                <a:sym typeface="Inter"/>
              </a:rPr>
              <a:t>Resultado preliminar</a:t>
            </a:r>
            <a:endParaRPr b="0" i="0" sz="4450" u="none" cap="none" strike="noStrike"/>
          </a:p>
        </p:txBody>
      </p:sp>
      <p:sp>
        <p:nvSpPr>
          <p:cNvPr id="343" name="Google Shape;343;g37c9e7b2cd1_0_49"/>
          <p:cNvSpPr txBox="1"/>
          <p:nvPr/>
        </p:nvSpPr>
        <p:spPr>
          <a:xfrm>
            <a:off x="643725" y="2117850"/>
            <a:ext cx="5352900" cy="54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mo Medium"/>
              <a:buChar char="●"/>
            </a:pP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Aplicação de um teste cego nos dados da Ocultação de Umbriel.</a:t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mo Medium"/>
              <a:buChar char="●"/>
            </a:pP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Essa observação continha 18 curvas, sendo 15 positivas e 3 negativas.</a:t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mo Medium"/>
              <a:buChar char="●"/>
            </a:pP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O único </a:t>
            </a: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equívoco</a:t>
            </a: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 do modelo foi em uma das curvas negativas, observada por Norman Carlson.</a:t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</p:txBody>
      </p:sp>
      <p:pic>
        <p:nvPicPr>
          <p:cNvPr id="344" name="Google Shape;344;g37c9e7b2cd1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9590" y="541350"/>
            <a:ext cx="7524750" cy="408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37c9e7b2cd1_0_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5400" y="4932375"/>
            <a:ext cx="5935005" cy="32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7c9e7b2cd1_0_58"/>
          <p:cNvSpPr/>
          <p:nvPr/>
        </p:nvSpPr>
        <p:spPr>
          <a:xfrm>
            <a:off x="643715" y="1059500"/>
            <a:ext cx="6111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lang="en-US" sz="4450">
                <a:latin typeface="Inter"/>
                <a:ea typeface="Inter"/>
                <a:cs typeface="Inter"/>
                <a:sym typeface="Inter"/>
              </a:rPr>
              <a:t>Resultado preliminar</a:t>
            </a:r>
            <a:endParaRPr b="0" i="0" sz="4450" u="none" cap="none" strike="noStrike"/>
          </a:p>
        </p:txBody>
      </p:sp>
      <p:sp>
        <p:nvSpPr>
          <p:cNvPr id="352" name="Google Shape;352;g37c9e7b2cd1_0_58"/>
          <p:cNvSpPr txBox="1"/>
          <p:nvPr/>
        </p:nvSpPr>
        <p:spPr>
          <a:xfrm>
            <a:off x="643725" y="2117850"/>
            <a:ext cx="5352900" cy="54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mo Medium"/>
              <a:buChar char="●"/>
            </a:pP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Aplicação de um teste cego nos dados da Ocultação de Umbriel.</a:t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mo Medium"/>
              <a:buChar char="●"/>
            </a:pP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Essa observação continha 18 curvas, sendo 15 positivas e 3 negativas.</a:t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mo Medium"/>
              <a:buChar char="●"/>
            </a:pP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O único equivoco do modelo foi em uma das curvas negativas, observada por Norman Carlson.</a:t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mo Medium"/>
              <a:buChar char="●"/>
            </a:pPr>
            <a:r>
              <a:rPr lang="en-US" sz="2400">
                <a:latin typeface="Arimo Medium"/>
                <a:ea typeface="Arimo Medium"/>
                <a:cs typeface="Arimo Medium"/>
                <a:sym typeface="Arimo Medium"/>
              </a:rPr>
              <a:t>Será que de fato era uma curva negativa?</a:t>
            </a:r>
            <a:endParaRPr sz="2400">
              <a:latin typeface="Arimo Medium"/>
              <a:ea typeface="Arimo Medium"/>
              <a:cs typeface="Arimo Medium"/>
              <a:sym typeface="Arimo Medium"/>
            </a:endParaRPr>
          </a:p>
        </p:txBody>
      </p:sp>
      <p:pic>
        <p:nvPicPr>
          <p:cNvPr id="353" name="Google Shape;353;g37c9e7b2cd1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4478" y="1667428"/>
            <a:ext cx="7372776" cy="409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g37c9e7b2cd1_0_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3665" y="7238153"/>
            <a:ext cx="9436576" cy="99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9"/>
          <p:cNvSpPr/>
          <p:nvPr/>
        </p:nvSpPr>
        <p:spPr>
          <a:xfrm>
            <a:off x="793790" y="786646"/>
            <a:ext cx="8523208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Inter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Próximas Etapas e Resultados Esperados</a:t>
            </a:r>
            <a:endParaRPr b="0" i="0" sz="3300" u="none" cap="none" strike="noStrike"/>
          </a:p>
        </p:txBody>
      </p:sp>
      <p:sp>
        <p:nvSpPr>
          <p:cNvPr id="361" name="Google Shape;361;p9"/>
          <p:cNvSpPr/>
          <p:nvPr/>
        </p:nvSpPr>
        <p:spPr>
          <a:xfrm>
            <a:off x="3402330" y="1658422"/>
            <a:ext cx="1304211" cy="980003"/>
          </a:xfrm>
          <a:prstGeom prst="roundRect">
            <a:avLst>
              <a:gd fmla="val 7291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3934777" y="1998940"/>
            <a:ext cx="239197" cy="29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850" u="none" cap="none" strike="noStrike"/>
          </a:p>
        </p:txBody>
      </p:sp>
      <p:sp>
        <p:nvSpPr>
          <p:cNvPr id="363" name="Google Shape;363;p9"/>
          <p:cNvSpPr/>
          <p:nvPr/>
        </p:nvSpPr>
        <p:spPr>
          <a:xfrm>
            <a:off x="6128099" y="3826156"/>
            <a:ext cx="23742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Finalização do Pipeline</a:t>
            </a:r>
            <a:endParaRPr b="0" i="0" sz="1650" u="none" cap="none" strike="noStrike"/>
          </a:p>
        </p:txBody>
      </p:sp>
      <p:sp>
        <p:nvSpPr>
          <p:cNvPr id="364" name="Google Shape;364;p9"/>
          <p:cNvSpPr/>
          <p:nvPr/>
        </p:nvSpPr>
        <p:spPr>
          <a:xfrm>
            <a:off x="6193437" y="4232177"/>
            <a:ext cx="61563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Concluir o pipeline automatizado de tratamento de dados pós-extração SQL.</a:t>
            </a:r>
            <a:endParaRPr b="0" i="0" sz="1300" u="none" cap="none" strike="noStrike"/>
          </a:p>
        </p:txBody>
      </p:sp>
      <p:sp>
        <p:nvSpPr>
          <p:cNvPr id="365" name="Google Shape;365;p9"/>
          <p:cNvSpPr/>
          <p:nvPr/>
        </p:nvSpPr>
        <p:spPr>
          <a:xfrm>
            <a:off x="4791551" y="2628900"/>
            <a:ext cx="8960048" cy="11430"/>
          </a:xfrm>
          <a:prstGeom prst="roundRect">
            <a:avLst>
              <a:gd fmla="val 625116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2750106" y="2723436"/>
            <a:ext cx="2608540" cy="980003"/>
          </a:xfrm>
          <a:prstGeom prst="roundRect">
            <a:avLst>
              <a:gd fmla="val 7291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3934777" y="3063954"/>
            <a:ext cx="239197" cy="29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850" u="none" cap="none" strike="noStrike"/>
          </a:p>
        </p:txBody>
      </p:sp>
      <p:sp>
        <p:nvSpPr>
          <p:cNvPr id="368" name="Google Shape;368;p9"/>
          <p:cNvSpPr/>
          <p:nvPr/>
        </p:nvSpPr>
        <p:spPr>
          <a:xfrm>
            <a:off x="6796092" y="4961170"/>
            <a:ext cx="30693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Geração de Curvas Sintéticas</a:t>
            </a:r>
            <a:endParaRPr b="0" i="0" sz="1650" u="none" cap="none" strike="noStrike"/>
          </a:p>
        </p:txBody>
      </p:sp>
      <p:sp>
        <p:nvSpPr>
          <p:cNvPr id="369" name="Google Shape;369;p9"/>
          <p:cNvSpPr/>
          <p:nvPr/>
        </p:nvSpPr>
        <p:spPr>
          <a:xfrm>
            <a:off x="6796100" y="5297172"/>
            <a:ext cx="64359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Finalizar a inclusão de curvas sintéticas negativas para balanceamento do dataset.</a:t>
            </a:r>
            <a:endParaRPr b="0" i="0" sz="1300" u="none" cap="none" strike="noStrike"/>
          </a:p>
        </p:txBody>
      </p:sp>
      <p:sp>
        <p:nvSpPr>
          <p:cNvPr id="370" name="Google Shape;370;p9"/>
          <p:cNvSpPr/>
          <p:nvPr/>
        </p:nvSpPr>
        <p:spPr>
          <a:xfrm>
            <a:off x="5443657" y="3693914"/>
            <a:ext cx="8307943" cy="11430"/>
          </a:xfrm>
          <a:prstGeom prst="roundRect">
            <a:avLst>
              <a:gd fmla="val 625116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2098000" y="3788450"/>
            <a:ext cx="3912751" cy="980003"/>
          </a:xfrm>
          <a:prstGeom prst="roundRect">
            <a:avLst>
              <a:gd fmla="val 7291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3934777" y="4128968"/>
            <a:ext cx="239197" cy="29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850" u="none" cap="none" strike="noStrike"/>
          </a:p>
        </p:txBody>
      </p:sp>
      <p:sp>
        <p:nvSpPr>
          <p:cNvPr id="373" name="Google Shape;373;p9"/>
          <p:cNvSpPr/>
          <p:nvPr/>
        </p:nvSpPr>
        <p:spPr>
          <a:xfrm>
            <a:off x="5642898" y="2798834"/>
            <a:ext cx="2514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Otimização com RAPIDS</a:t>
            </a:r>
            <a:endParaRPr b="0" i="0" sz="1650" u="none" cap="none" strike="noStrike"/>
          </a:p>
        </p:txBody>
      </p:sp>
      <p:sp>
        <p:nvSpPr>
          <p:cNvPr id="374" name="Google Shape;374;p9"/>
          <p:cNvSpPr/>
          <p:nvPr/>
        </p:nvSpPr>
        <p:spPr>
          <a:xfrm>
            <a:off x="5642898" y="3097180"/>
            <a:ext cx="739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Explorar o uso de GPUs via pacote RAPIDS para acelerar pré-processamento e treinamento.</a:t>
            </a:r>
            <a:endParaRPr b="0" i="0" sz="1300" u="none" cap="none" strike="noStrike"/>
          </a:p>
        </p:txBody>
      </p:sp>
      <p:sp>
        <p:nvSpPr>
          <p:cNvPr id="375" name="Google Shape;375;p9"/>
          <p:cNvSpPr/>
          <p:nvPr/>
        </p:nvSpPr>
        <p:spPr>
          <a:xfrm>
            <a:off x="6095762" y="4758928"/>
            <a:ext cx="7655838" cy="11430"/>
          </a:xfrm>
          <a:prstGeom prst="roundRect">
            <a:avLst>
              <a:gd fmla="val 625116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1445895" y="4853464"/>
            <a:ext cx="5217081" cy="1252180"/>
          </a:xfrm>
          <a:prstGeom prst="roundRect">
            <a:avLst>
              <a:gd fmla="val 5706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3934777" y="5330071"/>
            <a:ext cx="239197" cy="29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850" u="none" cap="none" strike="noStrike"/>
          </a:p>
        </p:txBody>
      </p:sp>
      <p:sp>
        <p:nvSpPr>
          <p:cNvPr id="378" name="Google Shape;378;p9"/>
          <p:cNvSpPr/>
          <p:nvPr/>
        </p:nvSpPr>
        <p:spPr>
          <a:xfrm>
            <a:off x="5014997" y="1658435"/>
            <a:ext cx="3142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Modelos Robusto e Confiáveis</a:t>
            </a:r>
            <a:endParaRPr b="0" i="0" sz="1650" u="none" cap="none" strike="noStrike"/>
          </a:p>
        </p:txBody>
      </p:sp>
      <p:sp>
        <p:nvSpPr>
          <p:cNvPr id="379" name="Google Shape;379;p9"/>
          <p:cNvSpPr/>
          <p:nvPr/>
        </p:nvSpPr>
        <p:spPr>
          <a:xfrm>
            <a:off x="5098322" y="2004307"/>
            <a:ext cx="68337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Detectar ocultações em casos complexos (alto ruído, ocultações curtas) com alta acurácia.</a:t>
            </a:r>
            <a:endParaRPr b="0" i="0" sz="1300" u="none" cap="none" strike="noStrike"/>
          </a:p>
        </p:txBody>
      </p:sp>
      <p:sp>
        <p:nvSpPr>
          <p:cNvPr id="380" name="Google Shape;380;p9"/>
          <p:cNvSpPr/>
          <p:nvPr/>
        </p:nvSpPr>
        <p:spPr>
          <a:xfrm>
            <a:off x="6747986" y="6096119"/>
            <a:ext cx="7003613" cy="11430"/>
          </a:xfrm>
          <a:prstGeom prst="roundRect">
            <a:avLst>
              <a:gd fmla="val 625116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793790" y="6190655"/>
            <a:ext cx="6521410" cy="1252180"/>
          </a:xfrm>
          <a:prstGeom prst="roundRect">
            <a:avLst>
              <a:gd fmla="val 5706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3934897" y="6667262"/>
            <a:ext cx="239197" cy="29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850" u="none" cap="none" strike="noStrike"/>
          </a:p>
        </p:txBody>
      </p:sp>
      <p:sp>
        <p:nvSpPr>
          <p:cNvPr id="383" name="Google Shape;383;p9"/>
          <p:cNvSpPr/>
          <p:nvPr/>
        </p:nvSpPr>
        <p:spPr>
          <a:xfrm>
            <a:off x="7485221" y="6360676"/>
            <a:ext cx="302692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Banco de Dados Padronizado</a:t>
            </a:r>
            <a:endParaRPr b="0" i="0" sz="1650" u="none" cap="none" strike="noStrike"/>
          </a:p>
        </p:txBody>
      </p:sp>
      <p:sp>
        <p:nvSpPr>
          <p:cNvPr id="384" name="Google Shape;384;p9"/>
          <p:cNvSpPr/>
          <p:nvPr/>
        </p:nvSpPr>
        <p:spPr>
          <a:xfrm>
            <a:off x="7485221" y="6728460"/>
            <a:ext cx="6181368" cy="544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Disponibilizar um banco de dados de curvas de luz estruturado para a comunidade astronômica.</a:t>
            </a:r>
            <a:endParaRPr b="0" i="0" sz="1300" u="none" cap="none" strike="noStrike"/>
          </a:p>
        </p:txBody>
      </p:sp>
      <p:pic>
        <p:nvPicPr>
          <p:cNvPr id="385" name="Google Shape;38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3868" y="7520949"/>
            <a:ext cx="2321457" cy="70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0"/>
          <p:cNvSpPr/>
          <p:nvPr/>
        </p:nvSpPr>
        <p:spPr>
          <a:xfrm>
            <a:off x="528995" y="415647"/>
            <a:ext cx="3779044" cy="472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Inter"/>
              <a:buNone/>
            </a:pPr>
            <a:r>
              <a:rPr b="1" i="0" lang="en-US" sz="2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Impacto e Futuro</a:t>
            </a:r>
            <a:endParaRPr b="0" i="0" sz="2950" u="none" cap="none" strike="noStrike"/>
          </a:p>
        </p:txBody>
      </p:sp>
      <p:sp>
        <p:nvSpPr>
          <p:cNvPr id="392" name="Google Shape;392;p10"/>
          <p:cNvSpPr/>
          <p:nvPr/>
        </p:nvSpPr>
        <p:spPr>
          <a:xfrm>
            <a:off x="528995" y="1190268"/>
            <a:ext cx="13572411" cy="483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Este projeto não só otimizará a análise de dados, mas também pavimentará o caminho para sistemas de detecção autônoma de eventos raros, como ocultações por objetos transnetunianos ou asteroides não catalogados.</a:t>
            </a:r>
            <a:endParaRPr b="0" i="0" sz="1800" u="none" cap="none" strike="noStrike"/>
          </a:p>
        </p:txBody>
      </p:sp>
      <p:sp>
        <p:nvSpPr>
          <p:cNvPr id="393" name="Google Shape;393;p10"/>
          <p:cNvSpPr/>
          <p:nvPr/>
        </p:nvSpPr>
        <p:spPr>
          <a:xfrm>
            <a:off x="528995" y="3640324"/>
            <a:ext cx="2267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Benefícios</a:t>
            </a:r>
            <a:endParaRPr b="0" i="0" sz="2400" u="none" cap="none" strike="noStrike"/>
          </a:p>
        </p:txBody>
      </p:sp>
      <p:sp>
        <p:nvSpPr>
          <p:cNvPr id="394" name="Google Shape;394;p10"/>
          <p:cNvSpPr/>
          <p:nvPr/>
        </p:nvSpPr>
        <p:spPr>
          <a:xfrm>
            <a:off x="528895" y="4089783"/>
            <a:ext cx="66018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4175" lvl="0" marL="34290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Char char="•"/>
            </a:pPr>
            <a:r>
              <a:rPr b="0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Redução da inspeção manual e risco de erro humano.</a:t>
            </a:r>
            <a:endParaRPr b="0" i="0" sz="1800" u="none" cap="none" strike="noStrike"/>
          </a:p>
        </p:txBody>
      </p:sp>
      <p:sp>
        <p:nvSpPr>
          <p:cNvPr id="395" name="Google Shape;395;p10"/>
          <p:cNvSpPr/>
          <p:nvPr/>
        </p:nvSpPr>
        <p:spPr>
          <a:xfrm>
            <a:off x="528900" y="4530547"/>
            <a:ext cx="66018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4175" lvl="0" marL="34290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Char char="•"/>
            </a:pPr>
            <a:r>
              <a:rPr b="0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Fornecimento de estimativas probabilísticas para eventos </a:t>
            </a:r>
            <a:r>
              <a:rPr lang="en-US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ambiguos</a:t>
            </a:r>
            <a:r>
              <a:rPr b="0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800" u="none" cap="none" strike="noStrike"/>
          </a:p>
        </p:txBody>
      </p:sp>
      <p:sp>
        <p:nvSpPr>
          <p:cNvPr id="396" name="Google Shape;396;p10"/>
          <p:cNvSpPr/>
          <p:nvPr/>
        </p:nvSpPr>
        <p:spPr>
          <a:xfrm>
            <a:off x="528895" y="5427269"/>
            <a:ext cx="66018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4175" lvl="0" marL="34290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Char char="•"/>
            </a:pPr>
            <a:r>
              <a:rPr b="0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Ampliação da capacidade de descoberta da astronomia observacional.</a:t>
            </a:r>
            <a:endParaRPr b="0" i="0" sz="1800" u="none" cap="none" strike="noStrike"/>
          </a:p>
        </p:txBody>
      </p:sp>
      <p:pic>
        <p:nvPicPr>
          <p:cNvPr descr="preencoded.png" id="397" name="Google Shape;3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504" y="1995255"/>
            <a:ext cx="6601899" cy="660189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0"/>
          <p:cNvSpPr/>
          <p:nvPr/>
        </p:nvSpPr>
        <p:spPr>
          <a:xfrm>
            <a:off x="6181487" y="9012793"/>
            <a:ext cx="2267426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Obrigado!</a:t>
            </a:r>
            <a:endParaRPr b="0" i="0" sz="1750" u="none" cap="none" strike="noStrike"/>
          </a:p>
        </p:txBody>
      </p:sp>
      <p:pic>
        <p:nvPicPr>
          <p:cNvPr id="399" name="Google Shape;39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08943" y="7520949"/>
            <a:ext cx="2321457" cy="70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413" y="6989950"/>
            <a:ext cx="2260325" cy="10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9b6903434_0_114"/>
          <p:cNvSpPr/>
          <p:nvPr/>
        </p:nvSpPr>
        <p:spPr>
          <a:xfrm>
            <a:off x="5695345" y="3878697"/>
            <a:ext cx="37791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4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Inter"/>
              <a:buNone/>
            </a:pPr>
            <a:r>
              <a:rPr b="1" lang="en-US" sz="2950">
                <a:latin typeface="Inter"/>
                <a:ea typeface="Inter"/>
                <a:cs typeface="Inter"/>
                <a:sym typeface="Inter"/>
              </a:rPr>
              <a:t>Obrigado!</a:t>
            </a:r>
            <a:endParaRPr b="0" i="0" sz="2950" u="none" cap="none" strike="noStrike"/>
          </a:p>
        </p:txBody>
      </p:sp>
      <p:sp>
        <p:nvSpPr>
          <p:cNvPr id="407" name="Google Shape;407;g379b6903434_0_114"/>
          <p:cNvSpPr/>
          <p:nvPr/>
        </p:nvSpPr>
        <p:spPr>
          <a:xfrm>
            <a:off x="6181487" y="9012793"/>
            <a:ext cx="2267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Obrigado!</a:t>
            </a:r>
            <a:endParaRPr b="0" i="0" sz="1750" u="none" cap="none" strike="noStrike"/>
          </a:p>
        </p:txBody>
      </p:sp>
      <p:pic>
        <p:nvPicPr>
          <p:cNvPr id="408" name="Google Shape;408;g379b6903434_0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3868" y="7520949"/>
            <a:ext cx="2321457" cy="70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2025-08-29T15:27:37Z</dcterms:created>
</cp:coreProperties>
</file>