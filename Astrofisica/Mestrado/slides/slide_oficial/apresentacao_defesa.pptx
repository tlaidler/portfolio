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12191675"/>
  <p:notesSz cx="6858000" cy="9144000"/>
  <p:embeddedFontLst>
    <p:embeddedFont>
      <p:font typeface="Inter Light"/>
      <p:regular r:id="rId54"/>
      <p:bold r:id="rId55"/>
      <p:italic r:id="rId56"/>
      <p:boldItalic r:id="rId57"/>
    </p:embeddedFont>
    <p:embeddedFont>
      <p:font typeface="Arimo"/>
      <p:regular r:id="rId58"/>
      <p:bold r:id="rId59"/>
      <p:italic r:id="rId60"/>
      <p:boldItalic r:id="rId61"/>
    </p:embeddedFont>
    <p:embeddedFont>
      <p:font typeface="Arimo SemiBold"/>
      <p:regular r:id="rId62"/>
      <p:bold r:id="rId63"/>
      <p:italic r:id="rId64"/>
      <p:boldItalic r:id="rId65"/>
    </p:embeddedFont>
    <p:embeddedFont>
      <p:font typeface="Inter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0" roundtripDataSignature="AMtx7mg0Y2Mpu8WkXSZbkwuwcnK5JtMw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CC1D11-534D-4329-AD80-5AAD5CF6A700}">
  <a:tblStyle styleId="{1ECC1D11-534D-4329-AD80-5AAD5CF6A7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customschemas.google.com/relationships/presentationmetadata" Target="meta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ArimoSemiBold-regular.fntdata"/><Relationship Id="rId61" Type="http://schemas.openxmlformats.org/officeDocument/2006/relationships/font" Target="fonts/Arimo-boldItalic.fntdata"/><Relationship Id="rId20" Type="http://schemas.openxmlformats.org/officeDocument/2006/relationships/slide" Target="slides/slide14.xml"/><Relationship Id="rId64" Type="http://schemas.openxmlformats.org/officeDocument/2006/relationships/font" Target="fonts/ArimoSemiBold-italic.fntdata"/><Relationship Id="rId63" Type="http://schemas.openxmlformats.org/officeDocument/2006/relationships/font" Target="fonts/ArimoSemiBold-bold.fntdata"/><Relationship Id="rId22" Type="http://schemas.openxmlformats.org/officeDocument/2006/relationships/slide" Target="slides/slide16.xml"/><Relationship Id="rId66" Type="http://schemas.openxmlformats.org/officeDocument/2006/relationships/font" Target="fonts/Inter-regular.fntdata"/><Relationship Id="rId21" Type="http://schemas.openxmlformats.org/officeDocument/2006/relationships/slide" Target="slides/slide15.xml"/><Relationship Id="rId65" Type="http://schemas.openxmlformats.org/officeDocument/2006/relationships/font" Target="fonts/ArimoSemiBold-boldItalic.fntdata"/><Relationship Id="rId24" Type="http://schemas.openxmlformats.org/officeDocument/2006/relationships/slide" Target="slides/slide18.xml"/><Relationship Id="rId68" Type="http://schemas.openxmlformats.org/officeDocument/2006/relationships/font" Target="fonts/Inter-italic.fntdata"/><Relationship Id="rId23" Type="http://schemas.openxmlformats.org/officeDocument/2006/relationships/slide" Target="slides/slide17.xml"/><Relationship Id="rId67" Type="http://schemas.openxmlformats.org/officeDocument/2006/relationships/font" Target="fonts/Inter-bold.fntdata"/><Relationship Id="rId60" Type="http://schemas.openxmlformats.org/officeDocument/2006/relationships/font" Target="fonts/Arim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Inter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InterLight-bold.fntdata"/><Relationship Id="rId10" Type="http://schemas.openxmlformats.org/officeDocument/2006/relationships/slide" Target="slides/slide4.xml"/><Relationship Id="rId54" Type="http://schemas.openxmlformats.org/officeDocument/2006/relationships/font" Target="fonts/InterLight-regular.fntdata"/><Relationship Id="rId13" Type="http://schemas.openxmlformats.org/officeDocument/2006/relationships/slide" Target="slides/slide7.xml"/><Relationship Id="rId57" Type="http://schemas.openxmlformats.org/officeDocument/2006/relationships/font" Target="fonts/InterLight-boldItalic.fntdata"/><Relationship Id="rId12" Type="http://schemas.openxmlformats.org/officeDocument/2006/relationships/slide" Target="slides/slide6.xml"/><Relationship Id="rId56" Type="http://schemas.openxmlformats.org/officeDocument/2006/relationships/font" Target="fonts/InterLight-italic.fntdata"/><Relationship Id="rId15" Type="http://schemas.openxmlformats.org/officeDocument/2006/relationships/slide" Target="slides/slide9.xml"/><Relationship Id="rId59" Type="http://schemas.openxmlformats.org/officeDocument/2006/relationships/font" Target="fonts/Arimo-bold.fntdata"/><Relationship Id="rId14" Type="http://schemas.openxmlformats.org/officeDocument/2006/relationships/slide" Target="slides/slide8.xml"/><Relationship Id="rId58" Type="http://schemas.openxmlformats.org/officeDocument/2006/relationships/font" Target="fonts/Arim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6d69281f3_0_12:notes"/>
          <p:cNvSpPr/>
          <p:nvPr>
            <p:ph idx="2" type="sldImg"/>
          </p:nvPr>
        </p:nvSpPr>
        <p:spPr>
          <a:xfrm>
            <a:off x="571561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6d69281f3_0_1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6d69281f3_0_1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6d69281f3_0_34:notes"/>
          <p:cNvSpPr/>
          <p:nvPr>
            <p:ph idx="2" type="sldImg"/>
          </p:nvPr>
        </p:nvSpPr>
        <p:spPr>
          <a:xfrm>
            <a:off x="571561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6d69281f3_0_34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6d69281f3_0_34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714c48e4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714c48e49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714c48e49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714c48e49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714c48e4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714c48e4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6d69281f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6d69281f3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6d69281f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6d69281f3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714c48e4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714c48e49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d69281f3_0_9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6d69281f3_0_9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g3f6d69281f3_0_9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061" y="6457950"/>
            <a:ext cx="1435466" cy="342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31.png"/><Relationship Id="rId13" Type="http://schemas.openxmlformats.org/officeDocument/2006/relationships/image" Target="../media/image22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Relationship Id="rId5" Type="http://schemas.openxmlformats.org/officeDocument/2006/relationships/image" Target="../media/image43.png"/><Relationship Id="rId6" Type="http://schemas.openxmlformats.org/officeDocument/2006/relationships/image" Target="../media/image48.png"/><Relationship Id="rId7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png"/><Relationship Id="rId4" Type="http://schemas.openxmlformats.org/officeDocument/2006/relationships/image" Target="../media/image6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2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695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640080" y="1371600"/>
            <a:ext cx="6613800" cy="1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Detecção Automatizada de</a:t>
            </a:r>
            <a:endParaRPr>
              <a:solidFill>
                <a:schemeClr val="accen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Ocultações Estelares</a:t>
            </a:r>
            <a:endParaRPr>
              <a:solidFill>
                <a:schemeClr val="accent1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Curvas de luz e Machine Learning  </a:t>
            </a:r>
            <a:endParaRPr b="0" i="0" sz="1800">
              <a:solidFill>
                <a:srgbClr val="4896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Defesa de Mestrado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40080" y="4206240"/>
            <a:ext cx="6613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Thiago Laidler Vidal Cunha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Orientador: Dr. J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lio Camargo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Observatório Nacional  2026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on_logo.png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577" y="5486400"/>
            <a:ext cx="2093073" cy="151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  ·  Defesa de Mestrado — ON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40080" y="1325880"/>
            <a:ext cx="110943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Ocultações estelares</a:t>
            </a:r>
            <a:r>
              <a:rPr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o fenômeno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O problema e os dados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Machine Learning 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Resultados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Quaoar e conclusões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Ocultações Estelares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3337560" y="3794760"/>
            <a:ext cx="79854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medir o invisível com uma sombra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4  ·  Defesa de Mestrado — ON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é uma ocultação</a:t>
            </a:r>
            <a:endParaRPr/>
          </a:p>
        </p:txBody>
      </p:sp>
      <p:pic>
        <p:nvPicPr>
          <p:cNvPr descr="curva.png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8867" y="1005840"/>
            <a:ext cx="8833961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Um corpo pequeno passa na frente de uma estrela: a luz "pisca". (Chariklo e seus anéis — ilustração: L. Maquet)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5  ·  Defesa de Mestrado — ON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sombra varre a Terra</a:t>
            </a:r>
            <a:endParaRPr/>
          </a:p>
        </p:txBody>
      </p:sp>
      <p:pic>
        <p:nvPicPr>
          <p:cNvPr descr="OccUmbriel_mapa.png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81533"/>
            <a:ext cx="5547207" cy="4586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ccUmbriel_mapa2.png"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3007" y="1760418"/>
            <a:ext cx="5547207" cy="34286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Cada observador no caminho da sombra vê o desaparecimento em um instante diferente. (Umbriel, 2020)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6  ·  Defesa de Mestrado — ON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câmera à curva de luz</a:t>
            </a:r>
            <a:endParaRPr/>
          </a:p>
        </p:txBody>
      </p:sp>
      <p:pic>
        <p:nvPicPr>
          <p:cNvPr descr="OccUmbriel_outputExemplo.pn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87807"/>
            <a:ext cx="4659654" cy="3573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ccUmbriel_outputExemplo2.png" id="135" name="Google Shape;1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5454" y="2629679"/>
            <a:ext cx="6434760" cy="1690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Frames de vídeo → fotometria → curva de luz. É este o objeto que analisamos.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7  ·  Defesa de Mestrado — ON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vale a pena: ciência de precisão</a:t>
            </a:r>
            <a:endParaRPr/>
          </a:p>
        </p:txBody>
      </p:sp>
      <p:pic>
        <p:nvPicPr>
          <p:cNvPr descr="Cordas atualizadas.png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729779"/>
            <a:ext cx="5547207" cy="3489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decker12.png" id="145" name="Google Shape;1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3007" y="1723615"/>
            <a:ext cx="5547207" cy="350221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Cada curva vira uma corda; as cordas desenham o corpo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tamanho e forma com precisão de km.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8  ·  Defesa de Mestrado — ON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gargalo é humano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548640" y="1371600"/>
            <a:ext cx="55473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centenas/milhares</a:t>
            </a:r>
            <a:endParaRPr sz="100"/>
          </a:p>
        </p:txBody>
      </p:sp>
      <p:sp>
        <p:nvSpPr>
          <p:cNvPr id="155" name="Google Shape;155;p8"/>
          <p:cNvSpPr txBox="1"/>
          <p:nvPr/>
        </p:nvSpPr>
        <p:spPr>
          <a:xfrm>
            <a:off x="548640" y="2788920"/>
            <a:ext cx="554720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de curvas acumuladas em arquivos</a:t>
            </a:r>
            <a:b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e novas campanhas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6095847" y="1371600"/>
            <a:ext cx="5547207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>
                <a:solidFill>
                  <a:srgbClr val="1D2D54"/>
                </a:solidFill>
                <a:latin typeface="Calibri"/>
                <a:ea typeface="Calibri"/>
                <a:cs typeface="Calibri"/>
                <a:sym typeface="Calibri"/>
              </a:rPr>
              <a:t>1 par de olhos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6095847" y="2788920"/>
            <a:ext cx="554720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por curva, na triagem manual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Alguma curvas são de difícil interpretação</a:t>
            </a:r>
            <a:endParaRPr/>
          </a:p>
        </p:txBody>
      </p:sp>
      <p:pic>
        <p:nvPicPr>
          <p:cNvPr descr="RF_curva_FN_1.png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775" y="3968350"/>
            <a:ext cx="3376375" cy="184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1.png"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5925" y="3954163"/>
            <a:ext cx="3376375" cy="187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6299" y="3968350"/>
            <a:ext cx="2661075" cy="20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9  ·  Defesa de Mestrado — ON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proposta: uma pipeline de triagem</a:t>
            </a:r>
            <a:endParaRPr/>
          </a:p>
        </p:txBody>
      </p:sp>
      <p:pic>
        <p:nvPicPr>
          <p:cNvPr descr="pipeline.png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741284"/>
            <a:ext cx="11368735" cy="346687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Banco de dados → normalização → características (features) → 4 classificadores → probabilidade de ocultação.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10  ·  Defesa de Mestrado — ON</a:t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onde vêm os dados</a:t>
            </a:r>
            <a:endParaRPr/>
          </a:p>
        </p:txBody>
      </p:sp>
      <p:pic>
        <p:nvPicPr>
          <p:cNvPr descr="fluxo1.png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823" y="1005840"/>
            <a:ext cx="3523190" cy="4937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7.jpg" id="179" name="Google Shape;1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677" y="1186223"/>
            <a:ext cx="6878536" cy="457699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VizieR (B/occ) + Grupo do Rio → banco SQLite único: todas as curvas e metadados em duas tabelas consultáveis.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11  ·  Defesa de Mestrado — ON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conjunto de dados rotulado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548640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1693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548640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curvas de luz no total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4246778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802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4246778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positivas (reais, com ocultação)</a:t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7944916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891</a:t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7944916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negativas</a:t>
            </a:r>
            <a:b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702 sintéticas · 186 recortes reais · 3 nativas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Negativas reais quase não são catalogadas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 S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imulador físico (Gomes-Ferrante &amp; Braga-Ribas) preenche a lacuna.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d69281f3_0_12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6d69281f3_0_12"/>
          <p:cNvSpPr/>
          <p:nvPr/>
        </p:nvSpPr>
        <p:spPr>
          <a:xfrm>
            <a:off x="322249" y="143905"/>
            <a:ext cx="71466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"/>
              <a:buNone/>
            </a:pPr>
            <a:r>
              <a:rPr b="1" lang="en-US" sz="3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Formando o dataset:</a:t>
            </a:r>
            <a:endParaRPr b="1" sz="3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"/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</p:txBody>
      </p:sp>
      <p:pic>
        <p:nvPicPr>
          <p:cNvPr id="202" name="Google Shape;202;g3f6d69281f3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2953" y="6267457"/>
            <a:ext cx="1934496" cy="590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6d69281f3_0_12"/>
          <p:cNvSpPr/>
          <p:nvPr/>
        </p:nvSpPr>
        <p:spPr>
          <a:xfrm>
            <a:off x="601363" y="1109018"/>
            <a:ext cx="52848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Cada curva de luz será reduzida a um vetor de parâmetros. Esses parâmetros serão as informações necessárias para o modelo </a:t>
            </a:r>
            <a:endParaRPr sz="1300">
              <a:solidFill>
                <a:srgbClr val="272525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4" name="Google Shape;204;g3f6d69281f3_0_12"/>
          <p:cNvSpPr txBox="1"/>
          <p:nvPr/>
        </p:nvSpPr>
        <p:spPr>
          <a:xfrm>
            <a:off x="7761085" y="1994167"/>
            <a:ext cx="445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g3f6d69281f3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3118" y="894324"/>
            <a:ext cx="2144607" cy="87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f6d69281f3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8276" y="2122951"/>
            <a:ext cx="3447738" cy="120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f6d69281f3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2168" y="3643865"/>
            <a:ext cx="4796789" cy="932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f6d69281f3_0_12"/>
          <p:cNvSpPr txBox="1"/>
          <p:nvPr/>
        </p:nvSpPr>
        <p:spPr>
          <a:xfrm>
            <a:off x="5780709" y="1166188"/>
            <a:ext cx="1934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Média do fluxo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g3f6d69281f3_0_12"/>
          <p:cNvSpPr txBox="1"/>
          <p:nvPr/>
        </p:nvSpPr>
        <p:spPr>
          <a:xfrm>
            <a:off x="6538284" y="1797188"/>
            <a:ext cx="1934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DP do fluxo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0" name="Google Shape;210;g3f6d69281f3_0_12"/>
          <p:cNvSpPr txBox="1"/>
          <p:nvPr/>
        </p:nvSpPr>
        <p:spPr>
          <a:xfrm>
            <a:off x="6317227" y="3255469"/>
            <a:ext cx="1934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Fluxo mínimo/máximo</a:t>
            </a:r>
            <a:endParaRPr sz="1200"/>
          </a:p>
        </p:txBody>
      </p:sp>
      <p:sp>
        <p:nvSpPr>
          <p:cNvPr id="211" name="Google Shape;211;g3f6d69281f3_0_12"/>
          <p:cNvSpPr txBox="1"/>
          <p:nvPr/>
        </p:nvSpPr>
        <p:spPr>
          <a:xfrm>
            <a:off x="6015923" y="4529760"/>
            <a:ext cx="46842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Resultado t-student de cada quartil da curva</a:t>
            </a:r>
            <a:endParaRPr sz="1200"/>
          </a:p>
        </p:txBody>
      </p:sp>
      <p:pic>
        <p:nvPicPr>
          <p:cNvPr id="212" name="Google Shape;212;g3f6d69281f3_0_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7227" y="4893354"/>
            <a:ext cx="2716679" cy="1968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f6d69281f3_0_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349" y="2060768"/>
            <a:ext cx="4673932" cy="2590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f6d69281f3_0_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3993" y="2033312"/>
            <a:ext cx="5632225" cy="3121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f6d69281f3_0_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812073">
            <a:off x="5352690" y="2034450"/>
            <a:ext cx="1173632" cy="85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f6d69281f3_0_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4875357">
            <a:off x="685459" y="4996309"/>
            <a:ext cx="1173633" cy="85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6d69281f3_0_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011171" y="5701688"/>
            <a:ext cx="1883554" cy="877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f6d69281f3_0_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4005" y="6112327"/>
            <a:ext cx="30480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6d69281f3_0_12"/>
          <p:cNvSpPr txBox="1"/>
          <p:nvPr/>
        </p:nvSpPr>
        <p:spPr>
          <a:xfrm>
            <a:off x="305080" y="5933854"/>
            <a:ext cx="1934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Profundidade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0" name="Google Shape;220;g3f6d69281f3_0_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2948918">
            <a:off x="3581998" y="4947461"/>
            <a:ext cx="1173633" cy="853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f6d69281f3_0_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73025" y="5795900"/>
            <a:ext cx="2619151" cy="39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f6d69281f3_0_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73025" y="6166113"/>
            <a:ext cx="2619150" cy="359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6d69281f3_0_34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6d69281f3_0_34"/>
          <p:cNvSpPr/>
          <p:nvPr/>
        </p:nvSpPr>
        <p:spPr>
          <a:xfrm>
            <a:off x="322249" y="143905"/>
            <a:ext cx="71466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"/>
              <a:buNone/>
            </a:pPr>
            <a:r>
              <a:rPr b="1" lang="en-US" sz="3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Formando o dataset:</a:t>
            </a:r>
            <a:endParaRPr b="1" sz="3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"/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</p:txBody>
      </p:sp>
      <p:pic>
        <p:nvPicPr>
          <p:cNvPr id="230" name="Google Shape;230;g3f6d69281f3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2953" y="6267457"/>
            <a:ext cx="1934496" cy="590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f6d69281f3_0_34"/>
          <p:cNvSpPr/>
          <p:nvPr/>
        </p:nvSpPr>
        <p:spPr>
          <a:xfrm>
            <a:off x="601363" y="1109018"/>
            <a:ext cx="52848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Cada curva de luz será reduzida a um vetor de parâmetros. Esses parâmetros serão as informações necessárias para o modelo </a:t>
            </a:r>
            <a:endParaRPr sz="1300">
              <a:solidFill>
                <a:srgbClr val="272525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32" name="Google Shape;232;g3f6d69281f3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359" y="2033313"/>
            <a:ext cx="4796789" cy="323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f6d69281f3_0_34"/>
          <p:cNvSpPr txBox="1"/>
          <p:nvPr/>
        </p:nvSpPr>
        <p:spPr>
          <a:xfrm>
            <a:off x="7761085" y="1994167"/>
            <a:ext cx="445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6d69281f3_0_34"/>
          <p:cNvSpPr txBox="1"/>
          <p:nvPr/>
        </p:nvSpPr>
        <p:spPr>
          <a:xfrm>
            <a:off x="10152955" y="1108988"/>
            <a:ext cx="17886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Estatística de Kolmogorov-Smirnov (comparação de distribuições de cada percentil)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5" name="Google Shape;235;g3f6d69281f3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0827" y="1039246"/>
            <a:ext cx="3694998" cy="32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6d69281f3_0_34"/>
          <p:cNvSpPr txBox="1"/>
          <p:nvPr/>
        </p:nvSpPr>
        <p:spPr>
          <a:xfrm>
            <a:off x="5886218" y="4529760"/>
            <a:ext cx="46842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Features pós tratamento</a:t>
            </a:r>
            <a:r>
              <a:rPr b="1" lang="en-US" sz="1200"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Savitzky-Golay filter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7" name="Google Shape;237;g3f6d69281f3_0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6218" y="4863272"/>
            <a:ext cx="3695005" cy="195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f6d69281f3_0_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3993" y="2033312"/>
            <a:ext cx="5632225" cy="3121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f6d69281f3_0_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1812073">
            <a:off x="5352690" y="2034450"/>
            <a:ext cx="1173632" cy="85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f6d69281f3_0_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11171" y="5701688"/>
            <a:ext cx="1883554" cy="877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f6d69281f3_0_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207129">
            <a:off x="700494" y="4898125"/>
            <a:ext cx="1173631" cy="85384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f6d69281f3_0_34"/>
          <p:cNvSpPr txBox="1"/>
          <p:nvPr/>
        </p:nvSpPr>
        <p:spPr>
          <a:xfrm>
            <a:off x="1125030" y="5906054"/>
            <a:ext cx="1934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Sinal-Ruído da queda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3" name="Google Shape;243;g3f6d69281f3_0_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02805" y="5783184"/>
            <a:ext cx="1971675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12  ·  Defesa de Mestrado — ON</a:t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curva vira números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exemplo positivo</a:t>
            </a:r>
            <a:endParaRPr/>
          </a:p>
        </p:txBody>
      </p:sp>
      <p:pic>
        <p:nvPicPr>
          <p:cNvPr descr="image25.png" id="251" name="Google Shape;2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040" y="978408"/>
            <a:ext cx="4371999" cy="242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1.png" id="252" name="Google Shape;25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352220">
            <a:off x="2720600" y="3481401"/>
            <a:ext cx="1280160" cy="9144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3" name="Google Shape;253;p12"/>
          <p:cNvGraphicFramePr/>
          <p:nvPr/>
        </p:nvGraphicFramePr>
        <p:xfrm>
          <a:off x="4023360" y="3703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{1ECC1D11-534D-4329-AD80-5AAD5CF6A700}</a:tableStyleId>
              </a:tblPr>
              <a:tblGrid>
                <a:gridCol w="3072375"/>
                <a:gridCol w="1152150"/>
                <a:gridCol w="1152150"/>
                <a:gridCol w="1152150"/>
                <a:gridCol w="1152150"/>
              </a:tblGrid>
              <a:tr h="57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Curva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Occ_depth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SNR do dip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Savgol_std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Max_Drawdown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Umbriel — A. Scheck (positiva)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−0,74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Umbriel — N. Carlson (negativa)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0,069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−0,59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4" name="Google Shape;254;p12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Curva com ocultação → a linha dela na tabela: queda mais funda, SNR maior, dispersão maior.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13  ·  Defesa de Mestrado — ON</a:t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curva vira números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xemplo negativo</a:t>
            </a:r>
            <a:endParaRPr/>
          </a:p>
        </p:txBody>
      </p:sp>
      <p:pic>
        <p:nvPicPr>
          <p:cNvPr descr="image51.png" id="262" name="Google Shape;2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196" y="978408"/>
            <a:ext cx="4361688" cy="24231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3" name="Google Shape;263;p13"/>
          <p:cNvGraphicFramePr/>
          <p:nvPr/>
        </p:nvGraphicFramePr>
        <p:xfrm>
          <a:off x="4023360" y="3703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{1ECC1D11-534D-4329-AD80-5AAD5CF6A700}</a:tableStyleId>
              </a:tblPr>
              <a:tblGrid>
                <a:gridCol w="3072375"/>
                <a:gridCol w="1152150"/>
                <a:gridCol w="1152150"/>
                <a:gridCol w="1152150"/>
                <a:gridCol w="1152150"/>
              </a:tblGrid>
              <a:tr h="57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Curva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Occ_depth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SNR do dip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Savgol_std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Max_Drawdown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Umbriel — A. Scheck (positiva)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−0,74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Umbriel — N. Carlson (negativa)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0,069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−0,59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E9EC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13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 curva sem evento vira números menores nas mesmas colunas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 É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este contraste que o classificador aprende.</a:t>
            </a:r>
            <a:endParaRPr/>
          </a:p>
        </p:txBody>
      </p:sp>
      <p:pic>
        <p:nvPicPr>
          <p:cNvPr descr="image21.png" id="265" name="Google Shape;26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352220">
            <a:off x="2720600" y="3481401"/>
            <a:ext cx="1280160" cy="914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72" name="Google Shape;272;p14"/>
          <p:cNvSpPr txBox="1"/>
          <p:nvPr/>
        </p:nvSpPr>
        <p:spPr>
          <a:xfrm>
            <a:off x="3291840" y="2651760"/>
            <a:ext cx="816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endParaRPr/>
          </a:p>
        </p:txBody>
      </p:sp>
      <p:sp>
        <p:nvSpPr>
          <p:cNvPr id="273" name="Google Shape;273;p14"/>
          <p:cNvSpPr txBox="1"/>
          <p:nvPr/>
        </p:nvSpPr>
        <p:spPr>
          <a:xfrm>
            <a:off x="3337560" y="3794760"/>
            <a:ext cx="79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uatro modelos, todos interpretáveis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15  ·  Defesa de Mestrado — ON</a:t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Classificação supervisionada</a:t>
            </a:r>
            <a:endParaRPr/>
          </a:p>
        </p:txBody>
      </p:sp>
      <p:pic>
        <p:nvPicPr>
          <p:cNvPr descr="sigmoide.png" id="281" name="Google Shape;2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884416"/>
            <a:ext cx="6991922" cy="359208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 txBox="1"/>
          <p:nvPr/>
        </p:nvSpPr>
        <p:spPr>
          <a:xfrm>
            <a:off x="7586282" y="1371600"/>
            <a:ext cx="4148213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Aprender com exemplos rotulados (positiva / negativa)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Saída: probabilidade p de haver ocultação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Decisão: p ≥ limiar τ (padrão 0,5) → "positiva"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714c48e49_1_10"/>
          <p:cNvSpPr txBox="1"/>
          <p:nvPr/>
        </p:nvSpPr>
        <p:spPr>
          <a:xfrm>
            <a:off x="8899855" y="6510528"/>
            <a:ext cx="301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16  ·  Defesa de Mestrado — ON</a:t>
            </a:r>
            <a:endParaRPr/>
          </a:p>
        </p:txBody>
      </p:sp>
      <p:sp>
        <p:nvSpPr>
          <p:cNvPr id="288" name="Google Shape;288;g3f714c48e49_1_10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714c48e49_1_10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Árvores de decisão... </a:t>
            </a:r>
            <a:endParaRPr/>
          </a:p>
        </p:txBody>
      </p:sp>
      <p:pic>
        <p:nvPicPr>
          <p:cNvPr descr="image38.png" id="290" name="Google Shape;290;g3f714c48e49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55" y="1244265"/>
            <a:ext cx="5547206" cy="415795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f714c48e49_1_10"/>
          <p:cNvSpPr txBox="1"/>
          <p:nvPr/>
        </p:nvSpPr>
        <p:spPr>
          <a:xfrm>
            <a:off x="548640" y="6080760"/>
            <a:ext cx="1109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Uma árvore faz perguntas simples, uma característica por vez: cada resposta restringe a região do espaço de dados, até que uma folha decida a classe.</a:t>
            </a:r>
            <a:endParaRPr/>
          </a:p>
        </p:txBody>
      </p:sp>
      <p:pic>
        <p:nvPicPr>
          <p:cNvPr id="292" name="Google Shape;292;g3f714c48e49_1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7697" y="1041125"/>
            <a:ext cx="5499550" cy="485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16  ·  Defesa de Mestrado — ON</a:t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Árvores de decisão... florestas e boost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Famílias de modelos baseados em árvore de decisão </a:t>
            </a:r>
            <a:endParaRPr/>
          </a:p>
        </p:txBody>
      </p:sp>
      <p:pic>
        <p:nvPicPr>
          <p:cNvPr id="301" name="Google Shape;3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700" y="1024700"/>
            <a:ext cx="8509824" cy="51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714c48e49_1_22"/>
          <p:cNvSpPr txBox="1"/>
          <p:nvPr/>
        </p:nvSpPr>
        <p:spPr>
          <a:xfrm>
            <a:off x="8899855" y="6510528"/>
            <a:ext cx="301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16  ·  Defesa de Mestrado — ON</a:t>
            </a:r>
            <a:endParaRPr/>
          </a:p>
        </p:txBody>
      </p:sp>
      <p:sp>
        <p:nvSpPr>
          <p:cNvPr id="307" name="Google Shape;307;g3f714c48e49_1_22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714c48e49_1_22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Floresta aleatória</a:t>
            </a:r>
            <a:endParaRPr/>
          </a:p>
        </p:txBody>
      </p:sp>
      <p:pic>
        <p:nvPicPr>
          <p:cNvPr descr="RF_img.png" id="309" name="Google Shape;309;g3f714c48e49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175" y="1007075"/>
            <a:ext cx="7209650" cy="49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f714c48e49_1_22"/>
          <p:cNvSpPr txBox="1"/>
          <p:nvPr/>
        </p:nvSpPr>
        <p:spPr>
          <a:xfrm>
            <a:off x="548640" y="6080760"/>
            <a:ext cx="1109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Uma árvore erra; um comitê de árvores descorrelacionadas erra muito menos. A aleatoriedade nos dados e nas características é o que reduz a variância</a:t>
            </a:r>
            <a:endParaRPr/>
          </a:p>
        </p:txBody>
      </p:sp>
      <p:pic>
        <p:nvPicPr>
          <p:cNvPr id="311" name="Google Shape;311;g3f714c48e49_1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5525" y="1772275"/>
            <a:ext cx="4971576" cy="33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14c48e49_1_0"/>
          <p:cNvSpPr txBox="1"/>
          <p:nvPr/>
        </p:nvSpPr>
        <p:spPr>
          <a:xfrm>
            <a:off x="8899855" y="6510528"/>
            <a:ext cx="301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16  ·  Defesa de Mestrado — ON</a:t>
            </a:r>
            <a:endParaRPr/>
          </a:p>
        </p:txBody>
      </p:sp>
      <p:sp>
        <p:nvSpPr>
          <p:cNvPr id="317" name="Google Shape;317;g3f714c48e49_1_0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714c48e49_1_0"/>
          <p:cNvSpPr txBox="1"/>
          <p:nvPr/>
        </p:nvSpPr>
        <p:spPr>
          <a:xfrm>
            <a:off x="457200" y="73152"/>
            <a:ext cx="11277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714c48e49_1_0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Em Boosting, as árvores são treinadas em sequência, e não em paralelo: cada nova árvore corrige os erros das anteriores.</a:t>
            </a:r>
            <a:endParaRPr/>
          </a:p>
        </p:txBody>
      </p:sp>
      <p:pic>
        <p:nvPicPr>
          <p:cNvPr id="320" name="Google Shape;320;g3f714c48e4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975" y="1082550"/>
            <a:ext cx="8679276" cy="47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17  ·  Defesa de Mestrado — ON</a:t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comitês funcionam</a:t>
            </a:r>
            <a:endParaRPr/>
          </a:p>
        </p:txBody>
      </p:sp>
      <p:pic>
        <p:nvPicPr>
          <p:cNvPr descr="manual_2.png" id="328" name="Google Shape;3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81388"/>
            <a:ext cx="5864193" cy="439814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7"/>
          <p:cNvSpPr txBox="1"/>
          <p:nvPr/>
        </p:nvSpPr>
        <p:spPr>
          <a:xfrm>
            <a:off x="6458553" y="1371600"/>
            <a:ext cx="5275800" cy="17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Erros independentes se cancelam na votação (Teorema do Júri de Condorcet)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4 modelos: Regressão Logística, Random Forest, XGBoost, CatBoost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Árvores </a:t>
            </a:r>
            <a:r>
              <a:rPr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informam</a:t>
            </a: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a importância de cada feature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18  ·  Defesa de Mestrado — ON</a:t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Avaliar sem se enganar</a:t>
            </a:r>
            <a:endParaRPr/>
          </a:p>
        </p:txBody>
      </p:sp>
      <p:pic>
        <p:nvPicPr>
          <p:cNvPr descr="kfold.png" id="337" name="Google Shape;3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8613"/>
            <a:ext cx="6991922" cy="420369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8"/>
          <p:cNvSpPr txBox="1"/>
          <p:nvPr/>
        </p:nvSpPr>
        <p:spPr>
          <a:xfrm>
            <a:off x="7586282" y="1371600"/>
            <a:ext cx="4148213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Teste sempre em curvas que o modelo nunca viu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Validação cruzada (5 dobras) confirma estabilidade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Métricas: precisão, sensibilidade, F1, AUC-ROC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937000" y="5821325"/>
            <a:ext cx="8482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Validação cruzada esquematizada. As 5 rodadas produzem média ± desvio padrão do desempenho, em vez de um único número que pode depender de um recorte favorável dos dados.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6d69281f3_0_123"/>
          <p:cNvSpPr txBox="1"/>
          <p:nvPr/>
        </p:nvSpPr>
        <p:spPr>
          <a:xfrm>
            <a:off x="8899855" y="6510528"/>
            <a:ext cx="301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18  ·  Defesa de Mestrado — ON</a:t>
            </a:r>
            <a:endParaRPr/>
          </a:p>
        </p:txBody>
      </p:sp>
      <p:sp>
        <p:nvSpPr>
          <p:cNvPr id="345" name="Google Shape;345;g3f6d69281f3_0_123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6d69281f3_0_123"/>
          <p:cNvSpPr txBox="1"/>
          <p:nvPr/>
        </p:nvSpPr>
        <p:spPr>
          <a:xfrm>
            <a:off x="457200" y="73152"/>
            <a:ext cx="11277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Métricas de performance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6d69281f3_0_123"/>
          <p:cNvSpPr txBox="1"/>
          <p:nvPr/>
        </p:nvSpPr>
        <p:spPr>
          <a:xfrm>
            <a:off x="7586282" y="1371600"/>
            <a:ext cx="41481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Teste sempre em curvas que o modelo nunca viu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Validação cruzada (5 dobras) confirma estabilidade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Métricas: precisão, sensibilidade, F1, AUC-ROC</a:t>
            </a:r>
            <a:endParaRPr/>
          </a:p>
        </p:txBody>
      </p:sp>
      <p:pic>
        <p:nvPicPr>
          <p:cNvPr id="348" name="Google Shape;348;g3f6d69281f3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6075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f6d69281f3_0_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150" y="5668575"/>
            <a:ext cx="28956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f6d69281f3_0_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1750" y="5818100"/>
            <a:ext cx="19716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f6d69281f3_0_1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3425" y="5818100"/>
            <a:ext cx="23431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f6d69281f3_0_1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86275" y="5837150"/>
            <a:ext cx="436245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6d69281f3_0_114"/>
          <p:cNvSpPr txBox="1"/>
          <p:nvPr/>
        </p:nvSpPr>
        <p:spPr>
          <a:xfrm>
            <a:off x="8899855" y="6510528"/>
            <a:ext cx="301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18  ·  Defesa de Mestrado — ON</a:t>
            </a:r>
            <a:endParaRPr/>
          </a:p>
        </p:txBody>
      </p:sp>
      <p:sp>
        <p:nvSpPr>
          <p:cNvPr id="358" name="Google Shape;358;g3f6d69281f3_0_114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f6d69281f3_0_114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de performance</a:t>
            </a:r>
            <a:endParaRPr/>
          </a:p>
        </p:txBody>
      </p:sp>
      <p:sp>
        <p:nvSpPr>
          <p:cNvPr id="360" name="Google Shape;360;g3f6d69281f3_0_114"/>
          <p:cNvSpPr txBox="1"/>
          <p:nvPr/>
        </p:nvSpPr>
        <p:spPr>
          <a:xfrm>
            <a:off x="7586282" y="1371600"/>
            <a:ext cx="41481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Teste sempre em curvas que o modelo nunca viu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Validação cruzada (5 dobras) confirma estabilidade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Métricas: precisão, sensibilidade, F1, AUC-ROC</a:t>
            </a:r>
            <a:endParaRPr/>
          </a:p>
        </p:txBody>
      </p:sp>
      <p:pic>
        <p:nvPicPr>
          <p:cNvPr id="361" name="Google Shape;361;g3f6d69281f3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00" y="931500"/>
            <a:ext cx="6924899" cy="54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19  ·  Defesa de Mestrado — ON</a:t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 28 às 11 features</a:t>
            </a:r>
            <a:endParaRPr/>
          </a:p>
        </p:txBody>
      </p:sp>
      <p:pic>
        <p:nvPicPr>
          <p:cNvPr descr="image28.png" id="369" name="Google Shape;3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009420"/>
            <a:ext cx="5547207" cy="2930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at_importance_rf.png" id="370" name="Google Shape;3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3007" y="1829235"/>
            <a:ext cx="5547207" cy="329096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9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Suavização, profundidade, duração, testes estatísticos... análise de redundância: 28 → 11 sem perder desempenho.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8" name="Google Shape;378;p20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/>
          </a:p>
        </p:txBody>
      </p:sp>
      <p:sp>
        <p:nvSpPr>
          <p:cNvPr id="379" name="Google Shape;379;p20"/>
          <p:cNvSpPr txBox="1"/>
          <p:nvPr/>
        </p:nvSpPr>
        <p:spPr>
          <a:xfrm>
            <a:off x="3337560" y="3794760"/>
            <a:ext cx="79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eis experimentos, um padrão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21  ·  Defesa de Mestrado — ON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Seis experimentos, desempenho estável</a:t>
            </a:r>
            <a:endParaRPr/>
          </a:p>
        </p:txBody>
      </p:sp>
      <p:graphicFrame>
        <p:nvGraphicFramePr>
          <p:cNvPr id="387" name="Google Shape;387;p21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{1ECC1D11-534D-4329-AD80-5AAD5CF6A700}</a:tableStyleId>
              </a:tblPr>
              <a:tblGrid>
                <a:gridCol w="1091150"/>
                <a:gridCol w="3273450"/>
                <a:gridCol w="2400525"/>
                <a:gridCol w="2073200"/>
                <a:gridCol w="20732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Configuração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Melhor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AUC-ROC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 features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misto 80/20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0,9937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0,9997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features (enxuta)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misto 80/20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0,9906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0,9995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features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 curvas reais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0,9950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features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misto 80/20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0,9906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0,9996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 features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misto 80/20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0,9996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features (sem K-Means)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misto 80/20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0,9906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0,9997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8" name="Google Shape;388;p21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Melhor F1 por experimento: </a:t>
            </a:r>
            <a:r>
              <a:rPr b="1" i="0" lang="en-US" sz="15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0,982–0,994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o desempenho não depende de uma escolha feliz.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22  ·  Defesa de Mestrado — ON</a:t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Separação das classes (Experimento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96" name="Google Shape;396;p22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Curvas ROC coladas no canto ideal; erros contados nos dedos. Os 4 modelos, estatisticamente equivalentes (McNemar).</a:t>
            </a:r>
            <a:endParaRPr/>
          </a:p>
        </p:txBody>
      </p:sp>
      <p:pic>
        <p:nvPicPr>
          <p:cNvPr id="397" name="Google Shape;3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51" y="1219850"/>
            <a:ext cx="5547199" cy="4418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19855"/>
            <a:ext cx="5791052" cy="4311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23  ·  Defesa de Mestrado — ON</a:t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se o teste tiver só curvas reais?</a:t>
            </a:r>
            <a:endParaRPr/>
          </a:p>
        </p:txBody>
      </p:sp>
      <p:pic>
        <p:nvPicPr>
          <p:cNvPr descr="exp3real_roc.png" id="406" name="Google Shape;4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09770"/>
            <a:ext cx="5547207" cy="412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p3real_confusion.png" id="407" name="Google Shape;4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3007" y="1265556"/>
            <a:ext cx="5547207" cy="4418327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3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Teste 100% real: F1 ≈ </a:t>
            </a:r>
            <a:r>
              <a:rPr b="1" i="0" lang="en-US" sz="15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0,98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(queda de ~1 ponto)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onsistente com a física, não o simulador.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24  ·  Defesa de Mestrado — ON</a:t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Importância não é insubstituibilidade</a:t>
            </a:r>
            <a:endParaRPr/>
          </a:p>
        </p:txBody>
      </p:sp>
      <p:pic>
        <p:nvPicPr>
          <p:cNvPr descr="histograma_kmeans_por_classe.png" id="416" name="Google Shape;4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61310"/>
            <a:ext cx="6540831" cy="40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4"/>
          <p:cNvSpPr txBox="1"/>
          <p:nvPr/>
        </p:nvSpPr>
        <p:spPr>
          <a:xfrm>
            <a:off x="7135191" y="1371600"/>
            <a:ext cx="4599304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K-Means: a feature "mais importante" das árvores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Removida → F1 não cai (features colineares compensam)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Lição: importância alta ≠ informação exclusiva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25  ·  Defesa de Mestrado — ON</a:t>
            </a:r>
            <a:endParaRPr/>
          </a:p>
        </p:txBody>
      </p:sp>
      <p:sp>
        <p:nvSpPr>
          <p:cNvPr id="423" name="Google Shape;423;p2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Onde o modelo erra</a:t>
            </a:r>
            <a:endParaRPr/>
          </a:p>
        </p:txBody>
      </p:sp>
      <p:pic>
        <p:nvPicPr>
          <p:cNvPr descr="RF_curva_FN_1.png" id="425" name="Google Shape;4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957149"/>
            <a:ext cx="5547207" cy="3035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F_curva_FN_2.png" id="426" name="Google Shape;4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3007" y="1972884"/>
            <a:ext cx="5547207" cy="3003671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5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Falsos negativos são curvas que até olhos humanos discutiriam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 R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uído alto, quedas rasas.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26  ·  Defesa de Mestrado — ON</a:t>
            </a:r>
            <a:endParaRPr/>
          </a:p>
        </p:txBody>
      </p:sp>
      <p:sp>
        <p:nvSpPr>
          <p:cNvPr id="433" name="Google Shape;433;p2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limiar τ: sensibilidade quase de graça</a:t>
            </a:r>
            <a:endParaRPr/>
          </a:p>
        </p:txBody>
      </p:sp>
      <p:pic>
        <p:nvPicPr>
          <p:cNvPr descr="metrics_vs_threshold.png" id="435" name="Google Shape;4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432" y="1005840"/>
            <a:ext cx="4818289" cy="534924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/>
          <p:nvPr/>
        </p:nvSpPr>
        <p:spPr>
          <a:xfrm>
            <a:off x="6458553" y="1371600"/>
            <a:ext cx="5275942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Perder um evento custa MUITO mais que revisar um alarme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Baixar τ: sensibilidade de </a:t>
            </a:r>
            <a:r>
              <a:rPr b="1" i="0" lang="en-US" sz="17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99,4%</a:t>
            </a: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no teste (+5 alarmes em 179 negativas)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Pós-processamento: sem retreinar nada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7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43" name="Google Shape;443;p27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Prova de fogo: Quaoar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3337560" y="3794760"/>
            <a:ext cx="79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urva real, externa ao treino</a:t>
            </a:r>
            <a:r>
              <a:rPr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 cedida por Pereira et al. (2023)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8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28  ·  Defesa de Mestrado — ON</a:t>
            </a:r>
            <a:endParaRPr/>
          </a:p>
        </p:txBody>
      </p:sp>
      <p:sp>
        <p:nvSpPr>
          <p:cNvPr id="450" name="Google Shape;450;p2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curva completa</a:t>
            </a:r>
            <a:endParaRPr/>
          </a:p>
        </p:txBody>
      </p:sp>
      <p:pic>
        <p:nvPicPr>
          <p:cNvPr descr="quaoar_test.png" id="452" name="Google Shape;4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38782"/>
            <a:ext cx="11368735" cy="447187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8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Corpo principal + anéis Q1R e Q2R (o fino). O modelo nunca viu Quaoar: p ≈ </a:t>
            </a:r>
            <a:r>
              <a:rPr b="1" i="0" lang="en-US" sz="15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0,99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para a curva inteira.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29  ·  Defesa de Mestrado — ON</a:t>
            </a:r>
            <a:endParaRPr/>
          </a:p>
        </p:txBody>
      </p:sp>
      <p:sp>
        <p:nvSpPr>
          <p:cNvPr id="459" name="Google Shape;459;p2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Caçando estruturas por recortes</a:t>
            </a:r>
            <a:endParaRPr/>
          </a:p>
        </p:txBody>
      </p:sp>
      <p:pic>
        <p:nvPicPr>
          <p:cNvPr descr="Quaoar_XgBoost_full_pict.png" id="461" name="Google Shape;4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98419"/>
            <a:ext cx="11368735" cy="43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9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Janela a janela: anéis fortes passam (p = </a:t>
            </a:r>
            <a:r>
              <a:rPr b="1" i="0" lang="en-US" sz="15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0,96–0,999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)... mas as travessias do anel fino Q2R "reprovam" (p = </a:t>
            </a:r>
            <a:r>
              <a:rPr b="1" i="0" lang="en-US" sz="15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0,04–0,08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30  ·  Defesa de Mestrado — ON</a:t>
            </a:r>
            <a:endParaRPr/>
          </a:p>
        </p:txBody>
      </p:sp>
      <p:sp>
        <p:nvSpPr>
          <p:cNvPr id="468" name="Google Shape;468;p3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sinal fraco ainda é sinal</a:t>
            </a:r>
            <a:endParaRPr/>
          </a:p>
        </p:txBody>
      </p:sp>
      <p:sp>
        <p:nvSpPr>
          <p:cNvPr id="470" name="Google Shape;470;p30"/>
          <p:cNvSpPr txBox="1"/>
          <p:nvPr/>
        </p:nvSpPr>
        <p:spPr>
          <a:xfrm>
            <a:off x="548640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86×</a:t>
            </a:r>
            <a:endParaRPr/>
          </a:p>
        </p:txBody>
      </p:sp>
      <p:sp>
        <p:nvSpPr>
          <p:cNvPr id="471" name="Google Shape;471;p30"/>
          <p:cNvSpPr txBox="1"/>
          <p:nvPr/>
        </p:nvSpPr>
        <p:spPr>
          <a:xfrm>
            <a:off x="548640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anel fino real vs. ruído parecido</a:t>
            </a:r>
            <a:b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(0,043 vs 0,0005)</a:t>
            </a:r>
            <a:endParaRPr/>
          </a:p>
        </p:txBody>
      </p:sp>
      <p:sp>
        <p:nvSpPr>
          <p:cNvPr id="472" name="Google Shape;472;p30"/>
          <p:cNvSpPr txBox="1"/>
          <p:nvPr/>
        </p:nvSpPr>
        <p:spPr>
          <a:xfrm>
            <a:off x="4246778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1D2D54"/>
                </a:solidFill>
                <a:latin typeface="Calibri"/>
                <a:ea typeface="Calibri"/>
                <a:cs typeface="Calibri"/>
                <a:sym typeface="Calibri"/>
              </a:rPr>
              <a:t>τ = 0,03</a:t>
            </a:r>
            <a:endParaRPr/>
          </a:p>
        </p:txBody>
      </p:sp>
      <p:sp>
        <p:nvSpPr>
          <p:cNvPr id="473" name="Google Shape;473;p30"/>
          <p:cNvSpPr txBox="1"/>
          <p:nvPr/>
        </p:nvSpPr>
        <p:spPr>
          <a:xfrm>
            <a:off x="4246778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recupera as duas travessias</a:t>
            </a:r>
            <a:b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do anel fino Q2R</a:t>
            </a:r>
            <a:endParaRPr/>
          </a:p>
        </p:txBody>
      </p:sp>
      <p:sp>
        <p:nvSpPr>
          <p:cNvPr id="474" name="Google Shape;474;p30"/>
          <p:cNvSpPr txBox="1"/>
          <p:nvPr/>
        </p:nvSpPr>
        <p:spPr>
          <a:xfrm>
            <a:off x="7944916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75" name="Google Shape;475;p30"/>
          <p:cNvSpPr txBox="1"/>
          <p:nvPr/>
        </p:nvSpPr>
        <p:spPr>
          <a:xfrm>
            <a:off x="7944916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falsos alarmes nesta curva</a:t>
            </a:r>
            <a:endParaRPr/>
          </a:p>
        </p:txBody>
      </p:sp>
      <p:pic>
        <p:nvPicPr>
          <p:cNvPr descr="quaoar_recorte_tau_ajustado.png" id="476" name="Google Shape;4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2452" y="3749040"/>
            <a:ext cx="638679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0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O que importa não é a probabilidade absoluta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é a separação entre evento e ruído.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1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31  ·  Defesa de Mestrado — ON</a:t>
            </a:r>
            <a:endParaRPr/>
          </a:p>
        </p:txBody>
      </p:sp>
      <p:sp>
        <p:nvSpPr>
          <p:cNvPr id="483" name="Google Shape;483;p3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1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Lição estrutural: janelas maiores diluem</a:t>
            </a:r>
            <a:endParaRPr/>
          </a:p>
        </p:txBody>
      </p:sp>
      <p:pic>
        <p:nvPicPr>
          <p:cNvPr descr="quaoar_recortes_janelas_expandidas.png" id="485" name="Google Shape;48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44589"/>
            <a:ext cx="11368735" cy="40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1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Ampliar a janela REDUZ a probabilidade: features globais diluem quedas curtas → motivação para janela deslizante.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32  ·  Defesa de Mestrado — ON</a:t>
            </a:r>
            <a:endParaRPr/>
          </a:p>
        </p:txBody>
      </p:sp>
      <p:sp>
        <p:nvSpPr>
          <p:cNvPr id="492" name="Google Shape;492;p3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2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Dificuldades e como foram enfrentadas</a:t>
            </a:r>
            <a:endParaRPr/>
          </a:p>
        </p:txBody>
      </p:sp>
      <p:pic>
        <p:nvPicPr>
          <p:cNvPr descr="fluxo2.png" id="494" name="Google Shape;49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1404" y="1143000"/>
            <a:ext cx="3291902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2"/>
          <p:cNvSpPr txBox="1"/>
          <p:nvPr/>
        </p:nvSpPr>
        <p:spPr>
          <a:xfrm>
            <a:off x="640080" y="1325880"/>
            <a:ext cx="6985815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Dados heterogêneos e dispersos → banco SQLite unificado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Só </a:t>
            </a:r>
            <a:r>
              <a:rPr b="1" i="0" lang="en-US" sz="18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negativas reais nativas → simulador físico + recortes de curvas reais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Redundância de features → análise sistemática: 28 → 11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Eventos curtos e rasos → limiar τ ajustável por campanha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3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33  ·  Defesa de Mestrado — ON</a:t>
            </a:r>
            <a:endParaRPr/>
          </a:p>
        </p:txBody>
      </p:sp>
      <p:sp>
        <p:nvSpPr>
          <p:cNvPr id="501" name="Google Shape;501;p3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3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/>
          </a:p>
        </p:txBody>
      </p:sp>
      <p:sp>
        <p:nvSpPr>
          <p:cNvPr id="503" name="Google Shape;503;p33"/>
          <p:cNvSpPr txBox="1"/>
          <p:nvPr/>
        </p:nvSpPr>
        <p:spPr>
          <a:xfrm>
            <a:off x="548640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0,98–0,99</a:t>
            </a:r>
            <a:endParaRPr/>
          </a:p>
        </p:txBody>
      </p:sp>
      <p:sp>
        <p:nvSpPr>
          <p:cNvPr id="504" name="Google Shape;504;p33"/>
          <p:cNvSpPr txBox="1"/>
          <p:nvPr/>
        </p:nvSpPr>
        <p:spPr>
          <a:xfrm>
            <a:off x="548640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F1 robusto em 6 experimentos</a:t>
            </a:r>
            <a:b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(4 modelos, teste real incluído)</a:t>
            </a:r>
            <a:endParaRPr/>
          </a:p>
        </p:txBody>
      </p:sp>
      <p:sp>
        <p:nvSpPr>
          <p:cNvPr id="505" name="Google Shape;505;p33"/>
          <p:cNvSpPr txBox="1"/>
          <p:nvPr/>
        </p:nvSpPr>
        <p:spPr>
          <a:xfrm>
            <a:off x="4246778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99,4%</a:t>
            </a:r>
            <a:endParaRPr/>
          </a:p>
        </p:txBody>
      </p:sp>
      <p:sp>
        <p:nvSpPr>
          <p:cNvPr id="506" name="Google Shape;506;p33"/>
          <p:cNvSpPr txBox="1"/>
          <p:nvPr/>
        </p:nvSpPr>
        <p:spPr>
          <a:xfrm>
            <a:off x="4246778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sensibilidade com τ ajustado</a:t>
            </a:r>
            <a:b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sem retreinamento</a:t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7944916" y="1371600"/>
            <a:ext cx="369813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86×</a:t>
            </a:r>
            <a:endParaRPr/>
          </a:p>
        </p:txBody>
      </p:sp>
      <p:sp>
        <p:nvSpPr>
          <p:cNvPr id="508" name="Google Shape;508;p33"/>
          <p:cNvSpPr txBox="1"/>
          <p:nvPr/>
        </p:nvSpPr>
        <p:spPr>
          <a:xfrm>
            <a:off x="7944916" y="2788920"/>
            <a:ext cx="3698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separação anel real vs. ruído</a:t>
            </a:r>
            <a:b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em dado externo (Quaoar)</a:t>
            </a:r>
            <a:endParaRPr/>
          </a:p>
        </p:txBody>
      </p:sp>
      <p:sp>
        <p:nvSpPr>
          <p:cNvPr id="509" name="Google Shape;509;p33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Uma ferramenta reproduzível de triagem e priorização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pronta para revisitar arquivos de curvas.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4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34  ·  Defesa de Mestrado — ON</a:t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4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/>
          </a:p>
        </p:txBody>
      </p:sp>
      <p:pic>
        <p:nvPicPr>
          <p:cNvPr descr="pipeline.png" id="517" name="Google Shape;5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0215" y="3095832"/>
            <a:ext cx="3834280" cy="116925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4"/>
          <p:cNvSpPr txBox="1"/>
          <p:nvPr/>
        </p:nvSpPr>
        <p:spPr>
          <a:xfrm>
            <a:off x="640080" y="1325880"/>
            <a:ext cx="6985815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Janela deslizante + features locais (detectar anéis finos direto)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Ampliar negativas reais nativas (colaborações e campanhas)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Redes neurais (CNN / ODNet) sobre a série bruta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Triagem em tempo quase-real nas campanhas do Grupo do Rio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5"/>
          <p:cNvSpPr txBox="1"/>
          <p:nvPr/>
        </p:nvSpPr>
        <p:spPr>
          <a:xfrm>
            <a:off x="914400" y="2011680"/>
            <a:ext cx="10362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Obrigado.</a:t>
            </a:r>
            <a:endParaRPr>
              <a:solidFill>
                <a:srgbClr val="4896DE"/>
              </a:solidFill>
            </a:endParaRPr>
          </a:p>
        </p:txBody>
      </p:sp>
      <p:sp>
        <p:nvSpPr>
          <p:cNvPr id="524" name="Google Shape;524;p35"/>
          <p:cNvSpPr txBox="1"/>
          <p:nvPr/>
        </p:nvSpPr>
        <p:spPr>
          <a:xfrm>
            <a:off x="914400" y="3383280"/>
            <a:ext cx="103629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Júlio Camargo (orientação) · Grupo do Rio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W. Gomes-Ferrante &amp; F. Braga-Ribas (simulador) · C. L. Pereira (dados de Quaoar)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Banca examinadora · família e amigos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on_logo.png" id="525" name="Google Shape;5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8575" y="5197729"/>
            <a:ext cx="1554480" cy="1125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6" name="Google Shape;52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9200" y="231700"/>
            <a:ext cx="4283825" cy="42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914400" y="192024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>
                <a:solidFill>
                  <a:srgbClr val="4896D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</p:txBody>
      </p:sp>
      <p:sp>
        <p:nvSpPr>
          <p:cNvPr id="533" name="Google Shape;533;p36"/>
          <p:cNvSpPr txBox="1"/>
          <p:nvPr/>
        </p:nvSpPr>
        <p:spPr>
          <a:xfrm>
            <a:off x="3291840" y="2651760"/>
            <a:ext cx="816833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Material de apoio</a:t>
            </a:r>
            <a:endParaRPr/>
          </a:p>
        </p:txBody>
      </p:sp>
      <p:sp>
        <p:nvSpPr>
          <p:cNvPr id="534" name="Google Shape;534;p36"/>
          <p:cNvSpPr txBox="1"/>
          <p:nvPr/>
        </p:nvSpPr>
        <p:spPr>
          <a:xfrm>
            <a:off x="3337560" y="3794760"/>
            <a:ext cx="79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BECDE6"/>
                </a:solidFill>
                <a:latin typeface="Calibri"/>
                <a:ea typeface="Calibri"/>
                <a:cs typeface="Calibri"/>
                <a:sym typeface="Calibri"/>
              </a:rPr>
              <a:t>slides extras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7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37  ·  Defesa de Mestrado — ON</a:t>
            </a:r>
            <a:endParaRPr/>
          </a:p>
        </p:txBody>
      </p:sp>
      <p:sp>
        <p:nvSpPr>
          <p:cNvPr id="540" name="Google Shape;540;p3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7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complementar: e sem ML, dava?</a:t>
            </a:r>
            <a:endParaRPr/>
          </a:p>
        </p:txBody>
      </p:sp>
      <p:graphicFrame>
        <p:nvGraphicFramePr>
          <p:cNvPr id="542" name="Google Shape;542;p37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{1ECC1D11-534D-4329-AD80-5AAD5CF6A700}</a:tableStyleId>
              </a:tblPr>
              <a:tblGrid>
                <a:gridCol w="1091150"/>
                <a:gridCol w="3273450"/>
                <a:gridCol w="2400525"/>
                <a:gridCol w="2073200"/>
                <a:gridCol w="20732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Classificador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2D5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Limiar em 1 feature (Occ_depth)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misto 80/20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Limiar em 1 feature (Occ_depth)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 reais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 (11 features)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misto 80/20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0,9906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 (11 features)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8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 reais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C41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0,9968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3" name="Google Shape;543;p37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Uma régua já vai longe (a física é forte)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 O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ML corta o erro restante em </a:t>
            </a:r>
            <a:r>
              <a:rPr b="1" i="0" lang="en-US" sz="1500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~10×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 [análise complementar, pós-dissertação]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714c48e49_1_35"/>
          <p:cNvSpPr txBox="1"/>
          <p:nvPr/>
        </p:nvSpPr>
        <p:spPr>
          <a:xfrm>
            <a:off x="8899855" y="6510528"/>
            <a:ext cx="301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37  ·  Defesa de Mestrado — ON</a:t>
            </a:r>
            <a:endParaRPr/>
          </a:p>
        </p:txBody>
      </p:sp>
      <p:sp>
        <p:nvSpPr>
          <p:cNvPr id="549" name="Google Shape;549;g3f714c48e49_1_35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714c48e49_1_35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Sobreajuste?</a:t>
            </a:r>
            <a:endParaRPr/>
          </a:p>
        </p:txBody>
      </p:sp>
      <p:sp>
        <p:nvSpPr>
          <p:cNvPr id="551" name="Google Shape;551;g3f714c48e49_1_35"/>
          <p:cNvSpPr txBox="1"/>
          <p:nvPr/>
        </p:nvSpPr>
        <p:spPr>
          <a:xfrm>
            <a:off x="-607660" y="986023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Resultados na escala de +98% precisão/acurácia/F1 são frutos de Overfit? Tudo indica que não.</a:t>
            </a:r>
            <a:endParaRPr b="1"/>
          </a:p>
        </p:txBody>
      </p:sp>
      <p:pic>
        <p:nvPicPr>
          <p:cNvPr id="552" name="Google Shape;552;g3f714c48e49_1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00" y="1515149"/>
            <a:ext cx="6962199" cy="4351374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f714c48e49_1_35"/>
          <p:cNvSpPr txBox="1"/>
          <p:nvPr/>
        </p:nvSpPr>
        <p:spPr>
          <a:xfrm>
            <a:off x="7416200" y="1515150"/>
            <a:ext cx="47754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Todas as métricas reportadas são de conjunto de teste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A Regressão Logística também acerta: e ela não tem como decorar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Ablação do tamanho do treino (80/20 → 65/35): -15% dos dados de treino, o F1 cai apenas ~0,7 pp (0,9906 → 0,9838) </a:t>
            </a:r>
            <a:endParaRPr sz="17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 Validação cruzada 5-fold com desvio pequeno (~0,006–0,010 em F1)  </a:t>
            </a:r>
            <a:endParaRPr sz="17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8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38  ·  Defesa de Mestrado — ON</a:t>
            </a:r>
            <a:endParaRPr/>
          </a:p>
        </p:txBody>
      </p:sp>
      <p:sp>
        <p:nvSpPr>
          <p:cNvPr id="559" name="Google Shape;559;p3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8"/>
          <p:cNvSpPr txBox="1"/>
          <p:nvPr/>
        </p:nvSpPr>
        <p:spPr>
          <a:xfrm>
            <a:off x="457200" y="7315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 cego: Umbriel (seminário, 2025)</a:t>
            </a:r>
            <a:endParaRPr/>
          </a:p>
        </p:txBody>
      </p:sp>
      <p:pic>
        <p:nvPicPr>
          <p:cNvPr descr="image51.png" id="561" name="Google Shape;5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863" y="1005840"/>
            <a:ext cx="8887968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8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 única divergência do teste cego (18 curvas: 15 pos / 3 neg) foi esta curva, de rótulo discutível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 E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ra mesmo negativa?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9"/>
          <p:cNvSpPr txBox="1"/>
          <p:nvPr/>
        </p:nvSpPr>
        <p:spPr>
          <a:xfrm>
            <a:off x="8899855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39  ·  Defesa de Mestrado — ON</a:t>
            </a:r>
            <a:endParaRPr/>
          </a:p>
        </p:txBody>
      </p:sp>
      <p:sp>
        <p:nvSpPr>
          <p:cNvPr id="568" name="Google Shape;568;p3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9"/>
          <p:cNvSpPr txBox="1"/>
          <p:nvPr/>
        </p:nvSpPr>
        <p:spPr>
          <a:xfrm>
            <a:off x="457200" y="73152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Recorte de Quaoar em detalhe</a:t>
            </a:r>
            <a:endParaRPr/>
          </a:p>
        </p:txBody>
      </p:sp>
      <p:pic>
        <p:nvPicPr>
          <p:cNvPr descr="Quaoar_XgBoost_2st3st_cut.png" id="570" name="Google Shape;57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901" y="1305200"/>
            <a:ext cx="11017475" cy="421811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9"/>
          <p:cNvSpPr txBox="1"/>
          <p:nvPr/>
        </p:nvSpPr>
        <p:spPr>
          <a:xfrm>
            <a:off x="548640" y="6080760"/>
            <a:ext cx="1109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Anel fino real (esq.) vs. anel denso (dir.)</a:t>
            </a: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probabilidades do XGBoost janela a janela.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